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0" cy="1097280"/>
          </a:xfrm>
          <a:prstGeom prst="rect">
            <a:avLst/>
          </a:prstGeom>
          <a:solidFill>
            <a:srgbClr val="14141F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97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00F0FF"/>
                </a:solidFill>
                <a:latin typeface="Calibri"/>
              </a:defRPr>
            </a:pPr>
            <a:r>
              <a:t>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37160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600" b="1">
                <a:solidFill>
                  <a:srgbClr val="D0D8E8"/>
                </a:solidFill>
                <a:latin typeface="Calibri"/>
              </a:defRPr>
            </a:pPr>
            <a:r>
              <a:t>SecureOps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22860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00F0FF"/>
                </a:solidFill>
                <a:latin typeface="Calibri"/>
              </a:defRPr>
            </a:pPr>
            <a:r>
              <a:t>Zero-Knowledge Security Auditing via Model Context Protocol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3108960"/>
            <a:ext cx="1463040" cy="320040"/>
          </a:xfrm>
          <a:prstGeom prst="rect">
            <a:avLst/>
          </a:prstGeom>
          <a:solidFill>
            <a:srgbClr val="00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3127248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F0FF"/>
                </a:solidFill>
                <a:latin typeface="Calibri"/>
              </a:defRPr>
            </a:pPr>
            <a:r>
              <a:t>LLM with MCP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3108960"/>
            <a:ext cx="1463040" cy="320040"/>
          </a:xfrm>
          <a:prstGeom prst="rect">
            <a:avLst/>
          </a:prstGeom>
          <a:solidFill>
            <a:srgbClr val="00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3127248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22C55E"/>
                </a:solidFill>
                <a:latin typeface="Calibri"/>
              </a:defRPr>
            </a:pPr>
            <a:r>
              <a:t>Cybersecurity &amp; Privacy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384048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6B7280"/>
                </a:solidFill>
                <a:latin typeface="Calibri"/>
              </a:defRPr>
            </a:pPr>
            <a:r>
              <a:t>Your code stays local. The LLM orchestrates. Vulnerabilities get caught.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4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Built for Global Tech Innovation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4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SecureOps AI  |  Global Tech Innovation 2026  |  LLM with MCP + Cybersecurity &amp;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00F0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572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D0D8E8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00584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Why existing approaches fail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417320"/>
            <a:ext cx="137160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solidFill>
            <a:srgbClr val="14141F"/>
          </a:solidFill>
          <a:ln w="12700">
            <a:solidFill>
              <a:srgbClr val="3311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1A4A"/>
                </a:solidFill>
                <a:latin typeface="Calibri"/>
              </a:defRPr>
            </a:pPr>
            <a:r>
              <a:t>  TODAY: Send code to the cloud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  <a:defRPr sz="1400">
                <a:solidFill>
                  <a:srgbClr val="CC8888"/>
                </a:solidFill>
                <a:latin typeface="Calibri"/>
              </a:defRPr>
            </a:pPr>
            <a:r>
              <a:t>  Developer uploads entire codebase to cloud LLM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00">
                <a:solidFill>
                  <a:srgbClr val="CC8888"/>
                </a:solidFill>
                <a:latin typeface="Calibri"/>
              </a:defRPr>
            </a:pPr>
            <a:r>
              <a:t>  Proprietary IP leaves the machine — permanently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00">
                <a:solidFill>
                  <a:srgbClr val="CC8888"/>
                </a:solidFill>
                <a:latin typeface="Calibri"/>
              </a:defRPr>
            </a:pPr>
            <a:r>
              <a:t>  Compliance violations (GDPR, SOC 2, HIPAA)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00">
                <a:solidFill>
                  <a:srgbClr val="CC8888"/>
                </a:solidFill>
                <a:latin typeface="Calibri"/>
              </a:defRPr>
            </a:pPr>
            <a:r>
              <a:t>  No audit trail of what was shared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00">
                <a:solidFill>
                  <a:srgbClr val="CC8888"/>
                </a:solidFill>
                <a:latin typeface="Calibri"/>
              </a:defRPr>
            </a:pPr>
            <a:r>
              <a:t>  Not feasible for enterprise codebases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5212080" cy="4114800"/>
          </a:xfrm>
          <a:prstGeom prst="rect">
            <a:avLst/>
          </a:prstGeom>
          <a:solidFill>
            <a:srgbClr val="14141F"/>
          </a:solidFill>
          <a:ln w="12700">
            <a:solidFill>
              <a:srgbClr val="1E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1A4A"/>
                </a:solidFill>
                <a:latin typeface="Calibri"/>
              </a:defRPr>
            </a:pPr>
            <a:r>
              <a:t>  The consequence: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603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  "We can't use AI security tools — our code is too sensitive."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  → 80% of enterprises block code upload to external AI services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  → Average data breach cost: $4.45M (IBM 2024)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  → Secrets leaked via LLM queries are impossible to recall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  Teams either take the risk or skip AI-powered audits entirely.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4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SecureOps AI  |  Global Tech Innovation 2026  |  LLM with MCP + Cybersecurity &amp;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00F0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572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D0D8E8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00584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Invert the paradigm — bring the LLM to your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417320"/>
            <a:ext cx="137160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3474720" cy="1828800"/>
          </a:xfrm>
          <a:prstGeom prst="rect">
            <a:avLst/>
          </a:prstGeom>
          <a:solidFill>
            <a:srgbClr val="14141F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F0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1031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D0D8E8"/>
                </a:solidFill>
                <a:latin typeface="Calibri"/>
              </a:defRPr>
            </a:pPr>
            <a:r>
              <a:t>Local MCP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6032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Runs on your machine. Zero code leaves.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828800"/>
            <a:ext cx="3474720" cy="1828800"/>
          </a:xfrm>
          <a:prstGeom prst="rect">
            <a:avLst/>
          </a:prstGeom>
          <a:solidFill>
            <a:srgbClr val="14141F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201168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C55E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1031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D0D8E8"/>
                </a:solidFill>
                <a:latin typeface="Calibri"/>
              </a:defRPr>
            </a:pPr>
            <a:r>
              <a:t>Three-Layer Scan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56032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Regex + AST + Filename detection locally.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1828800"/>
            <a:ext cx="3474720" cy="1828800"/>
          </a:xfrm>
          <a:prstGeom prst="rect">
            <a:avLst/>
          </a:prstGeom>
          <a:solidFill>
            <a:srgbClr val="14141F"/>
          </a:solidFill>
          <a:ln w="1270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201168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770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1031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D0D8E8"/>
                </a:solidFill>
                <a:latin typeface="Calibri"/>
              </a:defRPr>
            </a:pPr>
            <a:r>
              <a:t>LLM Orchestrates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56032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Requests only what it needs via MCP tools.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114800"/>
            <a:ext cx="10698480" cy="1371600"/>
          </a:xfrm>
          <a:prstGeom prst="rect">
            <a:avLst/>
          </a:prstGeom>
          <a:solidFill>
            <a:srgbClr val="14141F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29768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D0D8E8"/>
                </a:solidFill>
                <a:latin typeface="Calibri"/>
              </a:defRPr>
            </a:pPr>
            <a:r>
              <a:t>The LLM never sees your raw codebase. It requests file trees, scan reports, and specific flagged files through sandboxed MCP tools — with path traversal protection built into every file read. Your code stays yours.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60720"/>
            <a:ext cx="10698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300" b="0">
                <a:solidFill>
                  <a:srgbClr val="6B7280"/>
                </a:solidFill>
                <a:latin typeface="Calibri"/>
              </a:defRPr>
            </a:pPr>
            <a:r>
              <a:t>Architecture on next slide →     Demo on slide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4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SecureOps AI  |  Global Tech Innovation 2026  |  LLM with MCP + Cybersecurity &amp;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00F0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572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D0D8E8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00584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Model Context Protocol in 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417320"/>
            <a:ext cx="137160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0" y="1737360"/>
            <a:ext cx="4572000" cy="1463040"/>
          </a:xfrm>
          <a:prstGeom prst="rect">
            <a:avLst/>
          </a:prstGeom>
          <a:solidFill>
            <a:srgbClr val="14141F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182880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F0FF"/>
                </a:solidFill>
                <a:latin typeface="Consolas"/>
              </a:defRPr>
            </a:pPr>
            <a:r>
              <a:t>MCP CLIENT (LLM)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148840"/>
            <a:ext cx="4572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D0D8E8"/>
                </a:solidFill>
                <a:latin typeface="Calibri"/>
              </a:defRPr>
            </a:pPr>
            <a:r>
              <a:t>Requests file structure</a:t>
            </a:r>
            <a:br/>
            <a:r>
              <a:t>Scans for vulnerabilities</a:t>
            </a:r>
            <a:br/>
            <a:r>
              <a:t>Reads specific flagged files</a:t>
            </a:r>
            <a:br/>
            <a:r>
              <a:t>Generates remediation advice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3291840"/>
            <a:ext cx="4572000" cy="365760"/>
          </a:xfrm>
          <a:prstGeom prst="rect">
            <a:avLst/>
          </a:prstGeom>
          <a:solidFill>
            <a:srgbClr val="002430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331927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00F0FF"/>
                </a:solidFill>
                <a:latin typeface="Consolas"/>
              </a:defRPr>
            </a:pPr>
            <a:r>
              <a:t>◄───  MCP Protocol (Local stdio Transport)  ───►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3749039"/>
            <a:ext cx="4572000" cy="1645920"/>
          </a:xfrm>
          <a:prstGeom prst="rect">
            <a:avLst/>
          </a:prstGeom>
          <a:solidFill>
            <a:srgbClr val="14141F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38404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22C55E"/>
                </a:solidFill>
                <a:latin typeface="Consolas"/>
              </a:defRPr>
            </a:pPr>
            <a:r>
              <a:t>SECUREOPS MCP SERVER (Python)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20624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1A4A"/>
                </a:solidFill>
                <a:latin typeface="Consolas"/>
              </a:defRPr>
            </a:pPr>
            <a:r>
              <a:t>  ▸ RegexScanner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420624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14 rules, 39 patterns across 20+ languages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526279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7700"/>
                </a:solidFill>
                <a:latin typeface="Consolas"/>
              </a:defRPr>
            </a:pPr>
            <a:r>
              <a:t>  ▸ ASTAnalyzer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4526279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Python AST walker (eval, exec, pickle, os.system)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84632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22C55E"/>
                </a:solidFill>
                <a:latin typeface="Consolas"/>
              </a:defRPr>
            </a:pPr>
            <a:r>
              <a:t>  ▸ FileScanner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484632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Filename check + .env KEY=VALUE unquoted parsing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5166359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  ▸ DepScanner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5166359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Requirements.txt, Pipfile.lock, package-lock.json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0" y="5486400"/>
            <a:ext cx="1280160" cy="320040"/>
          </a:xfrm>
          <a:prstGeom prst="rect">
            <a:avLst/>
          </a:prstGeom>
          <a:solidFill>
            <a:srgbClr val="14141F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0" y="5504688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00F0FF"/>
                </a:solidFill>
                <a:latin typeface="Consolas"/>
              </a:defRPr>
            </a:pPr>
            <a:r>
              <a:t>JSON Output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0" y="5486400"/>
            <a:ext cx="1280160" cy="320040"/>
          </a:xfrm>
          <a:prstGeom prst="rect">
            <a:avLst/>
          </a:prstGeom>
          <a:solidFill>
            <a:srgbClr val="14141F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0" y="5504688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00F0FF"/>
                </a:solidFill>
                <a:latin typeface="Consolas"/>
              </a:defRPr>
            </a:pPr>
            <a:r>
              <a:t>SARIF v2.1.0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5486400"/>
            <a:ext cx="1463040" cy="320040"/>
          </a:xfrm>
          <a:prstGeom prst="rect">
            <a:avLst/>
          </a:prstGeom>
          <a:solidFill>
            <a:srgbClr val="14141F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5504688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00F0FF"/>
                </a:solidFill>
                <a:latin typeface="Consolas"/>
              </a:defRPr>
            </a:pPr>
            <a:r>
              <a:t>HTML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0116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F0FF"/>
                </a:solidFill>
                <a:latin typeface="Calibri"/>
              </a:defRPr>
            </a:pPr>
            <a:r>
              <a:t>KEY PROPERTIES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37744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    Zero-knowledge architecture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    No source code in prompts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    Path traversal protection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    Configurable rule engine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    Parallel file scanning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    Multi-language support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4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SecureOps AI  |  Global Tech Innovation 2026  |  LLM with MCP + Cybersecurity &amp;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00F0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572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D0D8E8"/>
                </a:solidFill>
                <a:latin typeface="Calibri"/>
              </a:defRPr>
            </a:pPr>
            <a:r>
              <a:t>Three Detection Layers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00584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No single approach catches everything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417320"/>
            <a:ext cx="137160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3657600" cy="365760"/>
          </a:xfrm>
          <a:prstGeom prst="rect">
            <a:avLst/>
          </a:prstGeom>
          <a:solidFill>
            <a:srgbClr val="00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56232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1A4A"/>
                </a:solidFill>
                <a:latin typeface="Consolas"/>
              </a:defRPr>
            </a:pPr>
            <a:r>
              <a:t>LAYER 1 — REGEX SCANNER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856232"/>
            <a:ext cx="7772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14 configurable rules • 39 regex patterns • 20+ languages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5029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D0D8E8"/>
                </a:solidFill>
                <a:latin typeface="Consolas"/>
              </a:defRPr>
            </a:pPr>
            <a:r>
              <a:t>• Hardcoded API keys &amp; secrets (CWE-312)</a:t>
            </a:r>
            <a:br/>
            <a:r>
              <a:t>• Command injection (CWE-78)</a:t>
            </a:r>
            <a:br/>
            <a:r>
              <a:t>• SQL injection (CWE-89)</a:t>
            </a:r>
            <a:br/>
            <a:r>
              <a:t>• XSS (CWE-79)</a:t>
            </a:r>
            <a:br/>
            <a:r>
              <a:t>• Insecure deserialization (CWE-502)</a:t>
            </a:r>
            <a:br/>
            <a:r>
              <a:t>• Path traversal (CWE-22)</a:t>
            </a:r>
            <a:br/>
            <a:r>
              <a:t>• Open redirect (CWE-601)</a:t>
            </a:r>
            <a:br/>
            <a:r>
              <a:t>• S3/cloud permission exposure (CWE-732)</a:t>
            </a:r>
            <a:br/>
            <a:r>
              <a:t>• Debug mode in production (CWE-489)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286000"/>
            <a:ext cx="5486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Fast, broad coverage. Catches the obvious and the hidden. Rules are YAML-configurable — add custom patterns without touching code.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383280"/>
            <a:ext cx="3657600" cy="365760"/>
          </a:xfrm>
          <a:prstGeom prst="rect">
            <a:avLst/>
          </a:prstGeom>
          <a:solidFill>
            <a:srgbClr val="00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410712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7700"/>
                </a:solidFill>
                <a:latin typeface="Consolas"/>
              </a:defRPr>
            </a:pPr>
            <a:r>
              <a:t>LAYER 2 — AST ANALYZER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410712"/>
            <a:ext cx="7772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Python AST walker • Semantic analysis • Variable tracing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40480"/>
            <a:ext cx="5029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D0D8E8"/>
                </a:solidFill>
                <a:latin typeface="Consolas"/>
              </a:defRPr>
            </a:pPr>
            <a:r>
              <a:t>• eval(), exec(), compile() calls</a:t>
            </a:r>
            <a:br/>
            <a:r>
              <a:t>• os.system(), subprocess.Popen(shell=True)</a:t>
            </a:r>
            <a:br/>
            <a:r>
              <a:t>• pickle.loads(), yaml.load() deserialization</a:t>
            </a:r>
            <a:br/>
            <a:r>
              <a:t>• Input() in dangerous context</a:t>
            </a:r>
            <a:br/>
            <a:r>
              <a:t>• Variable-name based secret detection</a:t>
            </a:r>
            <a:br/>
            <a:r>
              <a:t>  (AWS_SECRET = '...', password = '...')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840480"/>
            <a:ext cx="5486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Catches what regex misses. Understands code structure — detects obfuscated calls, multi-line patterns, and semantic relationships between variables and dangerous functions.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937760"/>
            <a:ext cx="3657600" cy="365760"/>
          </a:xfrm>
          <a:prstGeom prst="rect">
            <a:avLst/>
          </a:prstGeom>
          <a:solidFill>
            <a:srgbClr val="00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965192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2C55E"/>
                </a:solidFill>
                <a:latin typeface="Consolas"/>
              </a:defRPr>
            </a:pPr>
            <a:r>
              <a:t>LAYER 3 — FILE SCANNER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965192"/>
            <a:ext cx="7772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Filename detection • .env parsing • Dependency flagging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94960"/>
            <a:ext cx="5029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D0D8E8"/>
                </a:solidFill>
                <a:latin typeface="Consolas"/>
              </a:defRPr>
            </a:pPr>
            <a:r>
              <a:t>• Sensitive filenames: .env, id_rsa, credentials, secrets</a:t>
            </a:r>
            <a:br/>
            <a:r>
              <a:t>• Unquoted KEY=VALUE in .env files</a:t>
            </a:r>
            <a:br/>
            <a:r>
              <a:t>  (no quotes required — parses raw format)</a:t>
            </a:r>
            <a:br/>
            <a:r>
              <a:t>• Dependency manifest detection</a:t>
            </a:r>
            <a:br/>
            <a:r>
              <a:t>  (requirements.txt, Pipfile.lock, package-lock.json)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5394960"/>
            <a:ext cx="5486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Configuration exposure is one of the most common leaks. This layer catches secrets in .env files that other scanners miss because they expect quoted strings.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4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SecureOps AI  |  Global Tech Innovation 2026  |  LLM with MCP + Cybersecurity &amp;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00F0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572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D0D8E8"/>
                </a:solidFill>
                <a:latin typeface="Calibri"/>
              </a:defRPr>
            </a:pPr>
            <a:r>
              <a:t>Demo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00584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7 files • 5 languages • 20 vulnerabilities found in seconds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417320"/>
            <a:ext cx="137160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2011680" cy="1097280"/>
          </a:xfrm>
          <a:prstGeom prst="rect">
            <a:avLst/>
          </a:prstGeom>
          <a:solidFill>
            <a:srgbClr val="14141F"/>
          </a:solidFill>
          <a:ln w="12700">
            <a:solidFill>
              <a:srgbClr val="FF1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F1A4A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6B7280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1828800"/>
            <a:ext cx="2011680" cy="1097280"/>
          </a:xfrm>
          <a:prstGeom prst="rect">
            <a:avLst/>
          </a:prstGeom>
          <a:solidFill>
            <a:srgbClr val="14141F"/>
          </a:solidFill>
          <a:ln w="1270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192024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F7700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46888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6B7280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1828800"/>
            <a:ext cx="2011680" cy="1097280"/>
          </a:xfrm>
          <a:prstGeom prst="rect">
            <a:avLst/>
          </a:prstGeom>
          <a:solidFill>
            <a:srgbClr val="14141F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192024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ACC15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46888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6B7280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1828800"/>
            <a:ext cx="2011680" cy="1097280"/>
          </a:xfrm>
          <a:prstGeom prst="rect">
            <a:avLst/>
          </a:prstGeom>
          <a:solidFill>
            <a:srgbClr val="14141F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192024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22C55E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46888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6B7280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20" y="1828800"/>
            <a:ext cx="2011680" cy="1097280"/>
          </a:xfrm>
          <a:prstGeom prst="rect">
            <a:avLst/>
          </a:prstGeom>
          <a:solidFill>
            <a:srgbClr val="14141F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192024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00F0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46888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6B7280"/>
                </a:solidFill>
                <a:latin typeface="Calibri"/>
              </a:defRPr>
            </a:pPr>
            <a:r>
              <a:t>INFO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31520" y="329184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828800"/>
                <a:gridCol w="612648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F0FF"/>
                          </a:solidFill>
                          <a:latin typeface="Calibri"/>
                        </a:defRPr>
                      </a:pPr>
                      <a:r>
                        <a:t>File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F0FF"/>
                          </a:solidFill>
                          <a:latin typeface="Calibri"/>
                        </a:defRPr>
                      </a:pPr>
                      <a:r>
                        <a:t>Language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F0FF"/>
                          </a:solidFill>
                          <a:latin typeface="Calibri"/>
                        </a:defRPr>
                      </a:pPr>
                      <a:r>
                        <a:t>Findings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F0FF"/>
                          </a:solidFill>
                          <a:latin typeface="Calibri"/>
                        </a:defRPr>
                      </a:pPr>
                      <a:r>
                        <a:t>Top Issue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0D8E8"/>
                          </a:solidFill>
                          <a:latin typeface="Calibri"/>
                        </a:defRPr>
                      </a:pPr>
                      <a:r>
                        <a:t>.env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0D8E8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0D8E8"/>
                          </a:solidFill>
                          <a:latin typeface="Calibri"/>
                        </a:defRPr>
                      </a:pPr>
                      <a:r>
                        <a:t>3 (2 critical)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0D8E8"/>
                          </a:solidFill>
                          <a:latin typeface="Calibri"/>
                        </a:defRPr>
                      </a:pPr>
                      <a:r>
                        <a:t>Unquoted DATABASE_URL + GITHUB_TOKEN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0D8E8"/>
                          </a:solidFill>
                          <a:latin typeface="Calibri"/>
                        </a:defRPr>
                      </a:pPr>
                      <a:r>
                        <a:t>app.py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0D8E8"/>
                          </a:solidFill>
                          <a:latin typeface="Calibri"/>
                        </a:defRPr>
                      </a:pPr>
                      <a:r>
                        <a:t>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0D8E8"/>
                          </a:solidFill>
                          <a:latin typeface="Calibri"/>
                        </a:defRPr>
                      </a:pPr>
                      <a:r>
                        <a:t>9 (4 critical)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0D8E8"/>
                          </a:solidFill>
                          <a:latin typeface="Calibri"/>
                        </a:defRPr>
                      </a:pPr>
                      <a:r>
                        <a:t>Hardcoded secret, cmd injection, deserialization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0D8E8"/>
                          </a:solidFill>
                          <a:latin typeface="Calibri"/>
                        </a:defRPr>
                      </a:pPr>
                      <a:r>
                        <a:t>app.js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0D8E8"/>
                          </a:solidFill>
                          <a:latin typeface="Calibri"/>
                        </a:defRPr>
                      </a:pPr>
                      <a:r>
                        <a:t>JavaScript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0D8E8"/>
                          </a:solidFill>
                          <a:latin typeface="Calibri"/>
                        </a:defRPr>
                      </a:pPr>
                      <a:r>
                        <a:t>4 (1 critical)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0D8E8"/>
                          </a:solidFill>
                          <a:latin typeface="Calibri"/>
                        </a:defRPr>
                      </a:pPr>
                      <a:r>
                        <a:t>cp.exec() injection, XSS, eval()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0D8E8"/>
                          </a:solidFill>
                          <a:latin typeface="Calibri"/>
                        </a:defRPr>
                      </a:pPr>
                      <a:r>
                        <a:t>main.go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0D8E8"/>
                          </a:solidFill>
                          <a:latin typeface="Calibri"/>
                        </a:defRPr>
                      </a:pPr>
                      <a:r>
                        <a:t>Go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0D8E8"/>
                          </a:solidFill>
                          <a:latin typeface="Calibri"/>
                        </a:defRPr>
                      </a:pPr>
                      <a:r>
                        <a:t>1 (1 critical)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0D8E8"/>
                          </a:solidFill>
                          <a:latin typeface="Calibri"/>
                        </a:defRPr>
                      </a:pPr>
                      <a:r>
                        <a:t>Hardcoded API secret (sk-live-...)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0D8E8"/>
                          </a:solidFill>
                          <a:latin typeface="Calibri"/>
                        </a:defRPr>
                      </a:pPr>
                      <a:r>
                        <a:t>App.java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0D8E8"/>
                          </a:solidFill>
                          <a:latin typeface="Calibri"/>
                        </a:defRPr>
                      </a:pPr>
                      <a:r>
                        <a:t>Java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0D8E8"/>
                          </a:solidFill>
                          <a:latin typeface="Calibri"/>
                        </a:defRPr>
                      </a:pPr>
                      <a:r>
                        <a:t>1 (1 critical)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0D8E8"/>
                          </a:solidFill>
                          <a:latin typeface="Calibri"/>
                        </a:defRPr>
                      </a:pPr>
                      <a:r>
                        <a:t>Hardcoded DB password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0D8E8"/>
                          </a:solidFill>
                          <a:latin typeface="Calibri"/>
                        </a:defRPr>
                      </a:pPr>
                      <a:r>
                        <a:t>main.rs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0D8E8"/>
                          </a:solidFill>
                          <a:latin typeface="Calibri"/>
                        </a:defRPr>
                      </a:pPr>
                      <a:r>
                        <a:t>Rust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0D8E8"/>
                          </a:solidFill>
                          <a:latin typeface="Calibri"/>
                        </a:defRPr>
                      </a:pPr>
                      <a:r>
                        <a:t>1 (1 high)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0D8E8"/>
                          </a:solidFill>
                          <a:latin typeface="Calibri"/>
                        </a:defRPr>
                      </a:pPr>
                      <a:r>
                        <a:t>Path traversal via unsanitized path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0D8E8"/>
                          </a:solidFill>
                          <a:latin typeface="Calibri"/>
                        </a:defRPr>
                      </a:pPr>
                      <a:r>
                        <a:t>requirements.txt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0D8E8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0D8E8"/>
                          </a:solidFill>
                          <a:latin typeface="Calibri"/>
                        </a:defRPr>
                      </a:pPr>
                      <a:r>
                        <a:t>1 (info)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0D8E8"/>
                          </a:solidFill>
                          <a:latin typeface="Calibri"/>
                        </a:defRPr>
                      </a:pPr>
                      <a:r>
                        <a:t>Dependency manifest — run pip-audit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4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SecureOps AI  |  Global Tech Innovation 2026  |  LLM with MCP + Cybersecurity &amp;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00F0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572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D0D8E8"/>
                </a:solidFill>
                <a:latin typeface="Calibri"/>
              </a:defRPr>
            </a:pPr>
            <a:r>
              <a:t>.env File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00584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Specialized parsing for the most common leak source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417320"/>
            <a:ext cx="137160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D0D8E8"/>
                </a:solidFill>
                <a:latin typeface="Calibri"/>
              </a:defRPr>
            </a:pPr>
            <a:r>
              <a:t>Unlike most scanners, SecureOps AI doesn't require quoted strings — it parses raw KEY=VALUE format: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77440"/>
            <a:ext cx="5029200" cy="2011680"/>
          </a:xfrm>
          <a:prstGeom prst="rect">
            <a:avLst/>
          </a:prstGeom>
          <a:solidFill>
            <a:srgbClr val="14141F"/>
          </a:solidFill>
          <a:ln w="12700">
            <a:solidFill>
              <a:srgbClr val="1E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475488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00F0FF"/>
                </a:solidFill>
                <a:latin typeface="Consolas"/>
              </a:defRPr>
            </a:pPr>
            <a:r>
              <a:t># Typical .env file — no quotes:</a:t>
            </a:r>
            <a:br/>
            <a:r>
              <a:t>DATABASE_URL=postgres://admin:supersecret@10.0.0.1:5432/prod</a:t>
            </a:r>
            <a:br/>
            <a:r>
              <a:t>GITHUB_TOKEN=ghp_abc123def456ghi789jkl</a:t>
            </a:r>
            <a:br/>
            <a:r>
              <a:t>AWS_ACCESS_KEY=AKIAIOSFODNN7EXAMPLE</a:t>
            </a:r>
            <a:br/>
            <a:br/>
            <a:r>
              <a:t># Matched keys:</a:t>
            </a:r>
            <a:br/>
            <a:r>
              <a:t>api_key, secret, password, token, access_key,</a:t>
            </a:r>
            <a:br/>
            <a:r>
              <a:t>github_token, gitlab_token, slack_token, stripe_key,</a:t>
            </a:r>
            <a:br/>
            <a:r>
              <a:t>twilio, sendgrid, jwt_secret, connection_string,</a:t>
            </a:r>
            <a:br/>
            <a:r>
              <a:t>database_url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377440"/>
            <a:ext cx="5212080" cy="2011680"/>
          </a:xfrm>
          <a:prstGeom prst="rect">
            <a:avLst/>
          </a:prstGeom>
          <a:solidFill>
            <a:srgbClr val="14141F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56032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  <a:defRPr sz="1200">
                <a:solidFill>
                  <a:srgbClr val="D0D8E8"/>
                </a:solidFill>
                <a:latin typeface="Calibri"/>
              </a:defRPr>
            </a:pPr>
            <a:r>
              <a:t>    Filename detection: .env, .env.local, .env.prod, .env.dev, .env.staging, .env.test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200">
                <a:solidFill>
                  <a:srgbClr val="D0D8E8"/>
                </a:solidFill>
                <a:latin typeface="Calibri"/>
              </a:defRPr>
            </a:pPr>
            <a:r>
              <a:t>    Line-by-line KEY=VALUE parsing — no quoting required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200">
                <a:solidFill>
                  <a:srgbClr val="D0D8E8"/>
                </a:solidFill>
                <a:latin typeface="Calibri"/>
              </a:defRPr>
            </a:pPr>
            <a:r>
              <a:t>    Value length check (&gt;= 8 chars) to reduce false positives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200">
                <a:solidFill>
                  <a:srgbClr val="D0D8E8"/>
                </a:solidFill>
                <a:latin typeface="Calibri"/>
              </a:defRPr>
            </a:pPr>
            <a:r>
              <a:t>    Both = and : delimiter support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200">
                <a:solidFill>
                  <a:srgbClr val="D0D8E8"/>
                </a:solidFill>
                <a:latin typeface="Calibri"/>
              </a:defRPr>
            </a:pPr>
            <a:r>
              <a:t>    Also catches quoted values via standard regex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106984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Result: 3 findings on the .env file — 1 high (sensitive file detected) + 2 critical (unquoted secrets). Each finding includes CWE ID and remediation recommendation.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4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SecureOps AI  |  Global Tech Innovation 2026  |  LLM with MCP + Cybersecurity &amp;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00F0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572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D0D8E8"/>
                </a:solidFill>
                <a:latin typeface="Calibri"/>
              </a:defRPr>
            </a:pPr>
            <a:r>
              <a:t>LLM + MCP in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00584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The actual interaction between the LLM and SecureOps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417320"/>
            <a:ext cx="137160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2560320" cy="1463040"/>
          </a:xfrm>
          <a:prstGeom prst="rect">
            <a:avLst/>
          </a:prstGeom>
          <a:solidFill>
            <a:srgbClr val="14141F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  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D0D8E8"/>
                </a:solidFill>
                <a:latin typeface="Consolas"/>
              </a:defRPr>
            </a:pPr>
            <a:r>
              <a:t>scan_directory_structure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5176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Lists files (no content)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1828800"/>
            <a:ext cx="2560320" cy="1463040"/>
          </a:xfrm>
          <a:prstGeom prst="rect">
            <a:avLst/>
          </a:prstGeom>
          <a:solidFill>
            <a:srgbClr val="14141F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92024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22C55E"/>
                </a:solidFill>
                <a:latin typeface="Consolas"/>
              </a:defRPr>
            </a:pPr>
            <a:r>
              <a:t>  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228600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D0D8E8"/>
                </a:solidFill>
                <a:latin typeface="Consolas"/>
              </a:defRPr>
            </a:pPr>
            <a:r>
              <a:t>run_local_security_audit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265176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Returns JSON findings + summary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828800"/>
            <a:ext cx="2560320" cy="1463040"/>
          </a:xfrm>
          <a:prstGeom prst="rect">
            <a:avLst/>
          </a:prstGeom>
          <a:solidFill>
            <a:srgbClr val="14141F"/>
          </a:solidFill>
          <a:ln w="1270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2024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7700"/>
                </a:solidFill>
                <a:latin typeface="Consolas"/>
              </a:defRPr>
            </a:pPr>
            <a:r>
              <a:t>  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28600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D0D8E8"/>
                </a:solidFill>
                <a:latin typeface="Consolas"/>
              </a:defRPr>
            </a:pPr>
            <a:r>
              <a:t>read_file_securely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65176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Reads specific file (traversal protected)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1828800"/>
            <a:ext cx="2560320" cy="1463040"/>
          </a:xfrm>
          <a:prstGeom prst="rect">
            <a:avLst/>
          </a:prstGeom>
          <a:solidFill>
            <a:srgbClr val="14141F"/>
          </a:solidFill>
          <a:ln w="12700">
            <a:solidFill>
              <a:srgbClr val="FF1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92024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1A4A"/>
                </a:solidFill>
                <a:latin typeface="Consolas"/>
              </a:defRPr>
            </a:pPr>
            <a:r>
              <a:t>  Step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28600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D0D8E8"/>
                </a:solidFill>
                <a:latin typeface="Consolas"/>
              </a:defRPr>
            </a:pPr>
            <a:r>
              <a:t>LLM reasons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65176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Analyzes findings, suggests fixes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657600"/>
            <a:ext cx="10698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0F0FF"/>
                </a:solidFill>
                <a:latin typeface="Calibri"/>
              </a:defRPr>
            </a:pPr>
            <a:r>
              <a:t>Real interaction transcript (from a live run):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023360"/>
            <a:ext cx="10698480" cy="2377440"/>
          </a:xfrm>
          <a:prstGeom prst="rect">
            <a:avLst/>
          </a:prstGeom>
          <a:solidFill>
            <a:srgbClr val="14141F"/>
          </a:solidFill>
          <a:ln w="12700">
            <a:solidFill>
              <a:srgbClr val="1E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114800"/>
            <a:ext cx="1042416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00F0FF"/>
                </a:solidFill>
                <a:latin typeface="Consolas"/>
              </a:defRPr>
            </a:pPr>
            <a:r>
              <a:t>⚙ scan_directory_structure(target_dir="target_project")</a:t>
            </a:r>
            <a:br/>
            <a:r>
              <a:t>  ← {"tree": "target_project/\n  .env\n  App.java\n  app.js\n  app.py\n  main.go\n  main.rs\n  requirements.txt"}</a:t>
            </a:r>
            <a:br/>
            <a:br/>
            <a:r>
              <a:t>⚙ run_local_security_audit(target_dir="target_project")</a:t>
            </a:r>
            <a:br/>
            <a:r>
              <a:t>  ← {"summary": {"critical": 9, "high": 10, "medium": 1, "info": 1}, "findings": [...]}</a:t>
            </a:r>
            <a:br/>
            <a:br/>
            <a:r>
              <a:t>→ LLM analyzes findings and produces:</a:t>
            </a:r>
            <a:br/>
            <a:r>
              <a:t>  "app.py — Hardcoded AWS secret, os.system() command injection, eval() on user input,</a:t>
            </a:r>
            <a:br/>
            <a:r>
              <a:t>   pickle/yaml.load() insecure deserialization. Recommendations: [fixes for each]"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4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SecureOps AI  |  Global Tech Innovation 2026  |  LLM with MCP + Cybersecurity &amp;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00F0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572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D0D8E8"/>
                </a:solidFill>
                <a:latin typeface="Calibri"/>
              </a:defRPr>
            </a:pPr>
            <a:r>
              <a:t>Real-World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00584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Beyond the hackathon — production-ready from day 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417320"/>
            <a:ext cx="137160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3383280" cy="2011680"/>
          </a:xfrm>
          <a:prstGeom prst="rect">
            <a:avLst/>
          </a:prstGeom>
          <a:solidFill>
            <a:srgbClr val="14141F"/>
          </a:solidFill>
          <a:ln w="12700">
            <a:solidFill>
              <a:srgbClr val="FF1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1A4A"/>
                </a:solidFill>
                <a:latin typeface="Calibri"/>
              </a:defRPr>
            </a:pPr>
            <a:r>
              <a:t>  ▸ Pre-Commit Security 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301752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Run before every git commit. Catch secrets, tokens, and passwords before they hit the repository. Integrates with pre-commit hooks.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1828800"/>
            <a:ext cx="3383280" cy="2011680"/>
          </a:xfrm>
          <a:prstGeom prst="rect">
            <a:avLst/>
          </a:prstGeom>
          <a:solidFill>
            <a:srgbClr val="14141F"/>
          </a:solidFill>
          <a:ln w="1270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39" y="196596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7700"/>
                </a:solidFill>
                <a:latin typeface="Calibri"/>
              </a:defRPr>
            </a:pPr>
            <a:r>
              <a:t>  ▸ CI/CD Pipeline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9" y="2377440"/>
            <a:ext cx="301752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SARIF output feeds directly into GitHub Advanced Security and Azure DevOps. Automatically block PRs that introduce new vulnerabilities.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828800"/>
            <a:ext cx="3383280" cy="2011680"/>
          </a:xfrm>
          <a:prstGeom prst="rect">
            <a:avLst/>
          </a:prstGeom>
          <a:solidFill>
            <a:srgbClr val="14141F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96596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  ▸ Third-Party Code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377440"/>
            <a:ext cx="301752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Audit vendor code before integration. No need to share your infrastructure — the scan runs entirely on your machine.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114800"/>
            <a:ext cx="3383280" cy="2011680"/>
          </a:xfrm>
          <a:prstGeom prst="rect">
            <a:avLst/>
          </a:prstGeom>
          <a:solidFill>
            <a:srgbClr val="14141F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5196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F0FF"/>
                </a:solidFill>
                <a:latin typeface="Calibri"/>
              </a:defRPr>
            </a:pPr>
            <a:r>
              <a:t>  ▸ Developer Security Training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63440"/>
            <a:ext cx="301752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The LLM explains each finding in plain language, suggests fixes, and teaches secure coding patterns. Built-in education for the whole team.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59" y="4114800"/>
            <a:ext cx="3383280" cy="2011680"/>
          </a:xfrm>
          <a:prstGeom prst="rect">
            <a:avLst/>
          </a:prstGeom>
          <a:solidFill>
            <a:srgbClr val="14141F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39" y="425196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F0FF"/>
                </a:solidFill>
                <a:latin typeface="Calibri"/>
              </a:defRPr>
            </a:pPr>
            <a:r>
              <a:t>  ▸ Legacy Codebase Migration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39" y="4663440"/>
            <a:ext cx="301752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Scan millions of lines of legacy code to prioritize remediation. The risk score (0-100) gives management a clear metric for tracking progress.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4114800"/>
            <a:ext cx="3383280" cy="2011680"/>
          </a:xfrm>
          <a:prstGeom prst="rect">
            <a:avLst/>
          </a:prstGeom>
          <a:solidFill>
            <a:srgbClr val="14141F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425196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F0FF"/>
                </a:solidFill>
                <a:latin typeface="Calibri"/>
              </a:defRPr>
            </a:pPr>
            <a:r>
              <a:t>  ▸ Compliance Auditing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663440"/>
            <a:ext cx="301752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Every finding includes CWE-ID mapping (CWE-312, CWE-78, CWE-89, etc.). Generate compliance reports showing vulnerability posture across your codebase.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4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SecureOps AI  |  Global Tech Innovation 2026  |  LLM with MCP + Cybersecurity &amp;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00F0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572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D0D8E8"/>
                </a:solidFill>
                <a:latin typeface="Calibri"/>
              </a:defRPr>
            </a:pPr>
            <a:r>
              <a:t>Technical Complexity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00584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Built to scale. Built to last.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417320"/>
            <a:ext cx="137160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3383280" cy="1097280"/>
          </a:xfrm>
          <a:prstGeom prst="rect">
            <a:avLst/>
          </a:prstGeom>
          <a:solidFill>
            <a:srgbClr val="14141F"/>
          </a:solidFill>
          <a:ln w="12700">
            <a:solidFill>
              <a:srgbClr val="FF1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1371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F1A4A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148840"/>
            <a:ext cx="1554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0D8E8"/>
                </a:solidFill>
                <a:latin typeface="Calibri"/>
              </a:defRPr>
            </a:pPr>
            <a:r>
              <a:t>Security Rules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1828800"/>
            <a:ext cx="3383280" cy="1097280"/>
          </a:xfrm>
          <a:prstGeom prst="rect">
            <a:avLst/>
          </a:prstGeom>
          <a:solidFill>
            <a:srgbClr val="14141F"/>
          </a:solidFill>
          <a:ln w="1270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1965960"/>
            <a:ext cx="1371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F7700"/>
                </a:solidFill>
                <a:latin typeface="Calibri"/>
              </a:defRPr>
            </a:pPr>
            <a:r>
              <a:t>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79" y="2148840"/>
            <a:ext cx="1554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0D8E8"/>
                </a:solidFill>
                <a:latin typeface="Calibri"/>
              </a:defRPr>
            </a:pPr>
            <a:r>
              <a:t>Regex Patterns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828800"/>
            <a:ext cx="3383280" cy="1097280"/>
          </a:xfrm>
          <a:prstGeom prst="rect">
            <a:avLst/>
          </a:prstGeom>
          <a:solidFill>
            <a:srgbClr val="14141F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965960"/>
            <a:ext cx="1371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22C55E"/>
                </a:solidFill>
                <a:latin typeface="Calibri"/>
              </a:defRPr>
            </a:pPr>
            <a:r>
              <a:t>20+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2148840"/>
            <a:ext cx="1554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0D8E8"/>
                </a:solidFill>
                <a:latin typeface="Calibri"/>
              </a:defRPr>
            </a:pPr>
            <a:r>
              <a:t>Languages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200400"/>
            <a:ext cx="3383280" cy="1097280"/>
          </a:xfrm>
          <a:prstGeom prst="rect">
            <a:avLst/>
          </a:prstGeom>
          <a:solidFill>
            <a:srgbClr val="14141F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337560"/>
            <a:ext cx="1371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00F0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3520440"/>
            <a:ext cx="1554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0D8E8"/>
                </a:solidFill>
                <a:latin typeface="Calibri"/>
              </a:defRPr>
            </a:pPr>
            <a:r>
              <a:t>Files in Demo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59" y="3200400"/>
            <a:ext cx="3383280" cy="1097280"/>
          </a:xfrm>
          <a:prstGeom prst="rect">
            <a:avLst/>
          </a:prstGeom>
          <a:solidFill>
            <a:srgbClr val="14141F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79" y="3337560"/>
            <a:ext cx="1371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00F0FF"/>
                </a:solidFill>
                <a:latin typeface="Calibri"/>
              </a:defRPr>
            </a:pPr>
            <a:r>
              <a:t>8x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79" y="3520440"/>
            <a:ext cx="1554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0D8E8"/>
                </a:solidFill>
                <a:latin typeface="Calibri"/>
              </a:defRPr>
            </a:pPr>
            <a:r>
              <a:t>Parallel Workers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3200400"/>
            <a:ext cx="3383280" cy="1097280"/>
          </a:xfrm>
          <a:prstGeom prst="rect">
            <a:avLst/>
          </a:prstGeom>
          <a:solidFill>
            <a:srgbClr val="14141F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3337560"/>
            <a:ext cx="1371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00F0FF"/>
                </a:solidFill>
                <a:latin typeface="Calibri"/>
              </a:defRPr>
            </a:pPr>
            <a:r>
              <a:t>5MB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3520440"/>
            <a:ext cx="1554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0D8E8"/>
                </a:solidFill>
                <a:latin typeface="Calibri"/>
              </a:defRPr>
            </a:pPr>
            <a:r>
              <a:t>Max File Size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754880"/>
            <a:ext cx="10698480" cy="1645920"/>
          </a:xfrm>
          <a:prstGeom prst="rect">
            <a:avLst/>
          </a:prstGeom>
          <a:solidFill>
            <a:srgbClr val="14141F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84632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0F0FF"/>
                </a:solidFill>
                <a:latin typeface="Consolas"/>
              </a:defRPr>
            </a:pPr>
            <a:r>
              <a:t>PRODUCTION-GRADE 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21208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D0D8E8"/>
                </a:solidFill>
                <a:latin typeface="Consolas"/>
              </a:defRPr>
            </a:pPr>
            <a:r>
              <a:t>  Docker support           SARIF v2.1.0 output         Path traversal protection</a:t>
            </a:r>
            <a:br/>
            <a:r>
              <a:t>  Configurable rules       YAML-based configuration    Multi-threaded scanning</a:t>
            </a:r>
            <a:br/>
            <a:r>
              <a:t>  .secureops-ignore        Interactive HTML dashboard  CWE-ID mapping on every finding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4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SecureOps AI  |  Global Tech Innovation 2026  |  LLM with MCP + Cybersecurity &amp;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00F0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572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D0D8E8"/>
                </a:solidFill>
                <a:latin typeface="Calibri"/>
              </a:defRPr>
            </a:pPr>
            <a:r>
              <a:t>Integrations &amp; Output Formats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00584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Works with the tools you already 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417320"/>
            <a:ext cx="137160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2560320" cy="2743200"/>
          </a:xfrm>
          <a:prstGeom prst="rect">
            <a:avLst/>
          </a:prstGeom>
          <a:solidFill>
            <a:srgbClr val="14141F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0F0FF"/>
                </a:solidFill>
                <a:latin typeface="Calibri"/>
              </a:defRPr>
            </a:pPr>
            <a:r>
              <a:t>MCP Clients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8E8"/>
                </a:solidFill>
                <a:latin typeface="Calibri"/>
              </a:defRPr>
            </a:pPr>
            <a:r>
              <a:t>  ▸ Claude Desktop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83464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8E8"/>
                </a:solidFill>
                <a:latin typeface="Calibri"/>
              </a:defRPr>
            </a:pPr>
            <a:r>
              <a:t>  ▸ VS Code (MCP extension)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9184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8E8"/>
                </a:solidFill>
                <a:latin typeface="Calibri"/>
              </a:defRPr>
            </a:pPr>
            <a:r>
              <a:t>  ▸ Continue.dev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49039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8E8"/>
                </a:solidFill>
                <a:latin typeface="Calibri"/>
              </a:defRPr>
            </a:pPr>
            <a:r>
              <a:t>  ▸ Custom MCP SDK clients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1828800"/>
            <a:ext cx="2560320" cy="2743200"/>
          </a:xfrm>
          <a:prstGeom prst="rect">
            <a:avLst/>
          </a:prstGeom>
          <a:solidFill>
            <a:srgbClr val="14141F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0" y="192024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0F0FF"/>
                </a:solidFill>
                <a:latin typeface="Calibri"/>
              </a:defRPr>
            </a:pPr>
            <a:r>
              <a:t>SARIF Consumers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37744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8E8"/>
                </a:solidFill>
                <a:latin typeface="Calibri"/>
              </a:defRPr>
            </a:pPr>
            <a:r>
              <a:t>  ▸ GitHub Advanced 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83464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8E8"/>
                </a:solidFill>
                <a:latin typeface="Calibri"/>
              </a:defRPr>
            </a:pPr>
            <a:r>
              <a:t>  ▸ VS Code SARIF Viewer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29184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8E8"/>
                </a:solidFill>
                <a:latin typeface="Calibri"/>
              </a:defRPr>
            </a:pPr>
            <a:r>
              <a:t>  ▸ Azure DevOps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749039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8E8"/>
                </a:solidFill>
                <a:latin typeface="Calibri"/>
              </a:defRPr>
            </a:pPr>
            <a:r>
              <a:t>  ▸ GitLab SAST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828800"/>
            <a:ext cx="2560320" cy="2743200"/>
          </a:xfrm>
          <a:prstGeom prst="rect">
            <a:avLst/>
          </a:prstGeom>
          <a:solidFill>
            <a:srgbClr val="14141F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92024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0F0FF"/>
                </a:solidFill>
                <a:latin typeface="Calibri"/>
              </a:defRPr>
            </a:pPr>
            <a:r>
              <a:t>CI/CD Platforms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37744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8E8"/>
                </a:solidFill>
                <a:latin typeface="Calibri"/>
              </a:defRPr>
            </a:pPr>
            <a:r>
              <a:t>  ▸ GitHub Actions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83464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8E8"/>
                </a:solidFill>
                <a:latin typeface="Calibri"/>
              </a:defRPr>
            </a:pPr>
            <a:r>
              <a:t>  ▸ GitLab CI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29184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8E8"/>
                </a:solidFill>
                <a:latin typeface="Calibri"/>
              </a:defRPr>
            </a:pPr>
            <a:r>
              <a:t>  ▸ Jenkins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749039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8E8"/>
                </a:solidFill>
                <a:latin typeface="Calibri"/>
              </a:defRPr>
            </a:pPr>
            <a:r>
              <a:t>  ▸ Azure Pipelines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1828800"/>
            <a:ext cx="2560320" cy="2743200"/>
          </a:xfrm>
          <a:prstGeom prst="rect">
            <a:avLst/>
          </a:prstGeom>
          <a:solidFill>
            <a:srgbClr val="14141F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92024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0F0FF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237744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8E8"/>
                </a:solidFill>
                <a:latin typeface="Calibri"/>
              </a:defRPr>
            </a:pPr>
            <a:r>
              <a:t>  ▸ Docker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283464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8E8"/>
                </a:solidFill>
                <a:latin typeface="Calibri"/>
              </a:defRPr>
            </a:pPr>
            <a:r>
              <a:t>  ▸ docker-compose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329184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8E8"/>
                </a:solidFill>
                <a:latin typeface="Calibri"/>
              </a:defRPr>
            </a:pPr>
            <a:r>
              <a:t>  ▸ Python 3.13+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3749039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8E8"/>
                </a:solidFill>
                <a:latin typeface="Calibri"/>
              </a:defRPr>
            </a:pPr>
            <a:r>
              <a:t>  ▸ Windows / macOS / Linux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4937760"/>
            <a:ext cx="10698480" cy="1371600"/>
          </a:xfrm>
          <a:prstGeom prst="rect">
            <a:avLst/>
          </a:prstGeom>
          <a:solidFill>
            <a:srgbClr val="14141F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0292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0F0FF"/>
                </a:solidFill>
                <a:latin typeface="Consolas"/>
              </a:defRPr>
            </a:pPr>
            <a:r>
              <a:t>INTERACTIVE HTML 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39496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D0D8E8"/>
                </a:solidFill>
                <a:latin typeface="Calibri"/>
              </a:defRPr>
            </a:pPr>
            <a:r>
              <a:t>Open dashboard.html in any browser — no server required. Includes severity donut chart, risk score gauge (0-100), file-by-file findings breakdown, full searchable findings table, and one-click JSON/SARIF export. Self-contained, zero dependencies.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4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SecureOps AI  |  Global Tech Innovation 2026  |  LLM with MCP + Cybersecurity &amp;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00F0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572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D0D8E8"/>
                </a:solidFill>
                <a:latin typeface="Calibri"/>
              </a:defRPr>
            </a:pPr>
            <a:r>
              <a:t>Future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00584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This is just the beginning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417320"/>
            <a:ext cx="137160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3383280" cy="2011680"/>
          </a:xfrm>
          <a:prstGeom prst="rect">
            <a:avLst/>
          </a:prstGeom>
          <a:solidFill>
            <a:srgbClr val="14141F"/>
          </a:solidFill>
          <a:ln w="12700">
            <a:solidFill>
              <a:srgbClr val="FF1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1A4A"/>
                </a:solidFill>
                <a:latin typeface="Calibri"/>
              </a:defRPr>
            </a:pPr>
            <a:r>
              <a:t>Real-Time Watch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920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Consolas"/>
              </a:defRPr>
            </a:pPr>
            <a:r>
              <a:t>Q3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86000"/>
            <a:ext cx="30175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File system watcher that rescans on file change. Instant feedback during development.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59" y="1828800"/>
            <a:ext cx="3383280" cy="2011680"/>
          </a:xfrm>
          <a:prstGeom prst="rect">
            <a:avLst/>
          </a:prstGeom>
          <a:solidFill>
            <a:srgbClr val="14141F"/>
          </a:solidFill>
          <a:ln w="1270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39" y="19202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7700"/>
                </a:solidFill>
                <a:latin typeface="Calibri"/>
              </a:defRPr>
            </a:pPr>
            <a:r>
              <a:t>Auto-Fix via 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39" y="1920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Consolas"/>
              </a:defRPr>
            </a:pPr>
            <a:r>
              <a:t>Q3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39" y="2286000"/>
            <a:ext cx="30175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The LLM doesn't just find vulnerabilities — it generates and applies patches. One-click remediation.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828800"/>
            <a:ext cx="3383280" cy="2011680"/>
          </a:xfrm>
          <a:prstGeom prst="rect">
            <a:avLst/>
          </a:prstGeom>
          <a:solidFill>
            <a:srgbClr val="14141F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9202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Semgrep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1920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Consolas"/>
              </a:defRPr>
            </a:pPr>
            <a:r>
              <a:t>Q4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286000"/>
            <a:ext cx="30175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Deep SAST analysis via Semgrep rules engine. Hundreds of additional patterns.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114800"/>
            <a:ext cx="3383280" cy="2011680"/>
          </a:xfrm>
          <a:prstGeom prst="rect">
            <a:avLst/>
          </a:prstGeom>
          <a:solidFill>
            <a:srgbClr val="14141F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2062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F0FF"/>
                </a:solidFill>
                <a:latin typeface="Calibri"/>
              </a:defRPr>
            </a:pPr>
            <a:r>
              <a:t>Git History Scanning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206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Consolas"/>
              </a:defRPr>
            </a:pPr>
            <a:r>
              <a:t>Q4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572000"/>
            <a:ext cx="30175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Scan git history for leaked secrets. Find credentials that were committed months ago.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59" y="4114800"/>
            <a:ext cx="3383280" cy="2011680"/>
          </a:xfrm>
          <a:prstGeom prst="rect">
            <a:avLst/>
          </a:prstGeom>
          <a:solidFill>
            <a:srgbClr val="14141F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39" y="42062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F0FF"/>
                </a:solidFill>
                <a:latin typeface="Calibri"/>
              </a:defRPr>
            </a:pPr>
            <a:r>
              <a:t>VS Code Extension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39" y="4206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Consolas"/>
              </a:defRPr>
            </a:pPr>
            <a:r>
              <a:t>Q1 2027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39" y="4572000"/>
            <a:ext cx="30175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Inline code annotations. Real-time vulnerability highlighting as you type.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4114800"/>
            <a:ext cx="3383280" cy="2011680"/>
          </a:xfrm>
          <a:prstGeom prst="rect">
            <a:avLst/>
          </a:prstGeom>
          <a:solidFill>
            <a:srgbClr val="14141F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42062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F0FF"/>
                </a:solidFill>
                <a:latin typeface="Calibri"/>
              </a:defRPr>
            </a:pPr>
            <a:r>
              <a:t>Team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4206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Consolas"/>
              </a:defRPr>
            </a:pPr>
            <a:r>
              <a:t>Q1 2027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572000"/>
            <a:ext cx="30175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Centralized vulnerability tracking across repositories. Trend analysis and SLA monitoring.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0" b="1">
                <a:solidFill>
                  <a:srgbClr val="D0D8E8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698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00F0FF"/>
                </a:solidFill>
                <a:latin typeface="Calibri"/>
              </a:defRPr>
            </a:pPr>
            <a:r>
              <a:t>Your code stays local. The LLM orchestrates. Vulnerabilities get caught.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657600"/>
            <a:ext cx="5760720" cy="2011680"/>
          </a:xfrm>
          <a:prstGeom prst="rect">
            <a:avLst/>
          </a:prstGeom>
          <a:solidFill>
            <a:srgbClr val="14141F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0" y="3840480"/>
            <a:ext cx="5212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00F0FF"/>
                </a:solidFill>
                <a:latin typeface="Calibri"/>
              </a:defRPr>
            </a:pPr>
            <a:r>
              <a:t>SecureOps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4160520"/>
            <a:ext cx="5212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00F0FF"/>
                </a:solidFill>
                <a:latin typeface="Calibri"/>
              </a:defRPr>
            </a:pPr>
            <a:r>
              <a:t>Built for Global Tech Innovation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4480560"/>
            <a:ext cx="5212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00F0FF"/>
                </a:solidFill>
                <a:latin typeface="Calibri"/>
              </a:defRPr>
            </a:pPr>
            <a:r>
              <a:t>LLM with MCP + Cybersecurity &amp; Privacy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4800600"/>
            <a:ext cx="5212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00F0FF"/>
                </a:solidFill>
                <a:latin typeface="Calibr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3474720" y="5120640"/>
            <a:ext cx="5212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00F0FF"/>
                </a:solidFill>
                <a:latin typeface="Calibri"/>
              </a:defRPr>
            </a:pPr>
            <a:r>
              <a:t>https://github.com/[your-team]/secureops-mcp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4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SecureOps AI  |  Global Tech Innovation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