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B7280A-0FFB-468B-BDF5-D69A8370CAAC}">
  <a:tblStyle styleId="{81B7280A-0FFB-468B-BDF5-D69A8370CAA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31520" y="1371600"/>
            <a:ext cx="1097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31520" y="155448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SA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194560" y="13716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SecureOps AI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194560" y="22860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Zero-Knowledge Security Auditing via Model Context Protocol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2194560" y="3108960"/>
            <a:ext cx="1463040" cy="320040"/>
          </a:xfrm>
          <a:prstGeom prst="rect">
            <a:avLst/>
          </a:prstGeom>
          <a:solidFill>
            <a:srgbClr val="0024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2194560" y="312724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LLM with MCP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3840480" y="3108960"/>
            <a:ext cx="1463040" cy="320040"/>
          </a:xfrm>
          <a:prstGeom prst="rect">
            <a:avLst/>
          </a:prstGeom>
          <a:solidFill>
            <a:srgbClr val="0024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3840480" y="312724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Cybersecurity &amp; Privacy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194560" y="384048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Your code stays local. The LLM orchestrates. Vulnerabilities get caught.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Built for Global Tech Innovation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Why existing approaches fail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3311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  TODAY: Send code to the cloud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005840" y="2560320"/>
            <a:ext cx="4572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8888"/>
                </a:solidFill>
                <a:latin typeface="Calibri"/>
                <a:ea typeface="Calibri"/>
                <a:cs typeface="Calibri"/>
                <a:sym typeface="Calibri"/>
              </a:rPr>
              <a:t>  Developer uploads entire codebase to cloud LLM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8888"/>
                </a:solidFill>
                <a:latin typeface="Calibri"/>
                <a:ea typeface="Calibri"/>
                <a:cs typeface="Calibri"/>
                <a:sym typeface="Calibri"/>
              </a:rPr>
              <a:t>  Proprietary IP leaves the machine — permanently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8888"/>
                </a:solidFill>
                <a:latin typeface="Calibri"/>
                <a:ea typeface="Calibri"/>
                <a:cs typeface="Calibri"/>
                <a:sym typeface="Calibri"/>
              </a:rPr>
              <a:t>  Compliance violations (GDPR, SOC 2, HIPAA)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8888"/>
                </a:solidFill>
                <a:latin typeface="Calibri"/>
                <a:ea typeface="Calibri"/>
                <a:cs typeface="Calibri"/>
                <a:sym typeface="Calibri"/>
              </a:rPr>
              <a:t>  No audit trail of what was shared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8888"/>
                </a:solidFill>
                <a:latin typeface="Calibri"/>
                <a:ea typeface="Calibri"/>
                <a:cs typeface="Calibri"/>
                <a:sym typeface="Calibri"/>
              </a:rPr>
              <a:t>  Not feasible for enterprise codebases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1E1E3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  The consequence: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492240" y="2560320"/>
            <a:ext cx="4572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"We can't use AI security tools — our code is too sensitive."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→ 80% of enterprises block code upload to external AI services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→ Average data breach cost: $4.45M (IBM 2024)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→ Secrets leaked via LLM queries are impossible to recall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Teams either take the risk or skip AI-powered audits entirely.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Invert the paradigm — bring the LLM to your code</a:t>
            </a:r>
            <a:endParaRPr/>
          </a:p>
        </p:txBody>
      </p:sp>
      <p:sp>
        <p:nvSpPr>
          <p:cNvPr id="121" name="Google Shape;121;p15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731520" y="1828800"/>
            <a:ext cx="3474720" cy="18288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1005840" y="201168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1645920" y="2103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Local MCP Server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1005840" y="256032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Runs on your machine. Zero code leaves.</a:t>
            </a:r>
            <a:endParaRPr/>
          </a:p>
        </p:txBody>
      </p:sp>
      <p:sp>
        <p:nvSpPr>
          <p:cNvPr id="126" name="Google Shape;126;p15"/>
          <p:cNvSpPr/>
          <p:nvPr/>
        </p:nvSpPr>
        <p:spPr>
          <a:xfrm>
            <a:off x="4572000" y="1828800"/>
            <a:ext cx="3474720" cy="18288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4846320" y="201168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5486400" y="2103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Three-Layer Scan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4846320" y="256032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Regex + AST + Filename detection locally.</a:t>
            </a:r>
            <a:endParaRPr/>
          </a:p>
        </p:txBody>
      </p:sp>
      <p:sp>
        <p:nvSpPr>
          <p:cNvPr id="130" name="Google Shape;130;p15"/>
          <p:cNvSpPr/>
          <p:nvPr/>
        </p:nvSpPr>
        <p:spPr>
          <a:xfrm>
            <a:off x="8412480" y="1828800"/>
            <a:ext cx="3474720" cy="18288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8686800" y="201168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7700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9326880" y="2103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LLM Orchestrates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686800" y="256032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Requests only what it needs via MCP tools.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1097280" y="429768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The LLM never sees your raw codebase. It requests file trees, scan reports, and specific flagged files through sandboxed MCP tools — with path traversal protection built into every file read. Your code stays yours.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Architecture on next slide →     Demo on slide 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Context Protocol in action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3840480" y="1737360"/>
            <a:ext cx="4572000" cy="14630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3840480" y="18288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MCP CLIENT (LLM)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3840480" y="2148840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Requests file structure</a:t>
            </a:r>
            <a:b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Scans for vulnerabilities</a:t>
            </a:r>
            <a:b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Reads specific flagged files</a:t>
            </a:r>
            <a:b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Generates remediation advice</a:t>
            </a:r>
            <a:endParaRPr/>
          </a:p>
        </p:txBody>
      </p:sp>
      <p:sp>
        <p:nvSpPr>
          <p:cNvPr id="150" name="Google Shape;150;p16"/>
          <p:cNvSpPr/>
          <p:nvPr/>
        </p:nvSpPr>
        <p:spPr>
          <a:xfrm>
            <a:off x="3840480" y="3291840"/>
            <a:ext cx="4572000" cy="365760"/>
          </a:xfrm>
          <a:prstGeom prst="rect">
            <a:avLst/>
          </a:prstGeom>
          <a:solidFill>
            <a:srgbClr val="002430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3840480" y="331927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◄───  MCP Protocol (Local stdio Transport)  ───►</a:t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3840475" y="3749050"/>
            <a:ext cx="4689300" cy="18999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3840480" y="384048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2C55E"/>
                </a:solidFill>
                <a:latin typeface="Consolas"/>
                <a:ea typeface="Consolas"/>
                <a:cs typeface="Consolas"/>
                <a:sym typeface="Consolas"/>
              </a:rPr>
              <a:t>SECUREOPS MCP SERVER (Python)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4114800" y="42062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1A4A"/>
                </a:solidFill>
                <a:latin typeface="Consolas"/>
                <a:ea typeface="Consolas"/>
                <a:cs typeface="Consolas"/>
                <a:sym typeface="Consolas"/>
              </a:rPr>
              <a:t>  ▸ RegexScanner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5577840" y="420624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 rules, 39 patterns across 20+ languages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4114800" y="4526279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7700"/>
                </a:solidFill>
                <a:latin typeface="Consolas"/>
                <a:ea typeface="Consolas"/>
                <a:cs typeface="Consolas"/>
                <a:sym typeface="Consolas"/>
              </a:rPr>
              <a:t>  ▸ ASTAnalyzer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5577840" y="452627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Python AST walker (eval, exec, pickle, os.system)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4114800" y="484632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2C55E"/>
                </a:solidFill>
                <a:latin typeface="Consolas"/>
                <a:ea typeface="Consolas"/>
                <a:cs typeface="Consolas"/>
                <a:sym typeface="Consolas"/>
              </a:rPr>
              <a:t>  ▸ FileScanner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5577840" y="484632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Filename check + .env KEY=VALUE unquoted parsing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4114800" y="5166359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▸ DepScanner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5577840" y="516635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Requirements.txt, Pipfile.lock, package-lock.json</a:t>
            </a: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3840493" y="5887675"/>
            <a:ext cx="1280100" cy="3201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6"/>
          <p:cNvSpPr txBox="1"/>
          <p:nvPr/>
        </p:nvSpPr>
        <p:spPr>
          <a:xfrm>
            <a:off x="3840493" y="5910638"/>
            <a:ext cx="1280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JSON Output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5368220" y="5887713"/>
            <a:ext cx="1280100" cy="3201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5368245" y="5910626"/>
            <a:ext cx="1280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SARIF v2.1.0</a:t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6766585" y="5887713"/>
            <a:ext cx="1463100" cy="3201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6766585" y="5910626"/>
            <a:ext cx="1463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HTML Dashboard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548640" y="20116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KEY PROPERTIES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548640" y="2377440"/>
            <a:ext cx="29260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Zero-knowledge architecture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No source code in prompts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Path traversal protection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Configurable rule engine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Parallel file scanning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  Multi-language support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Three Detection Layers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No single approach catches everything</a:t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solidFill>
            <a:srgbClr val="001A2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914400" y="185623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1A4A"/>
                </a:solidFill>
                <a:latin typeface="Consolas"/>
                <a:ea typeface="Consolas"/>
                <a:cs typeface="Consolas"/>
                <a:sym typeface="Consolas"/>
              </a:rPr>
              <a:t>LAYER 1 — REGEX SCANNER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3657600" y="1856232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 configurable rules • 39 regex patterns • 20+ languages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731525" y="2286000"/>
            <a:ext cx="5212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Hardcoded API keys &amp; secrets (CWE-312)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Command injection (CWE-78)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SQL injection (CWE-89)</a:t>
            </a:r>
            <a:r>
              <a:rPr lang="en-US" sz="900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and X</a:t>
            </a: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SS (CWE-79)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Insecure deserialization (CWE-502)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Path traversal (CWE-22</a:t>
            </a:r>
            <a:r>
              <a:rPr lang="en-US" sz="900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) and </a:t>
            </a: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Open redirect (CWE-601)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S3/cloud permission exposure (CWE-732)</a:t>
            </a:r>
            <a:b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Debug mode in production (CWE-489)</a:t>
            </a:r>
            <a:endParaRPr sz="1200"/>
          </a:p>
        </p:txBody>
      </p:sp>
      <p:sp>
        <p:nvSpPr>
          <p:cNvPr id="184" name="Google Shape;184;p17"/>
          <p:cNvSpPr txBox="1"/>
          <p:nvPr/>
        </p:nvSpPr>
        <p:spPr>
          <a:xfrm>
            <a:off x="5943600" y="2286000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Fast, broad coverage. Catches the obvious and the hidden. Rules are YAML-configurable — add custom patterns without touching code.</a:t>
            </a:r>
            <a:endParaRPr/>
          </a:p>
        </p:txBody>
      </p:sp>
      <p:sp>
        <p:nvSpPr>
          <p:cNvPr id="185" name="Google Shape;185;p17"/>
          <p:cNvSpPr/>
          <p:nvPr/>
        </p:nvSpPr>
        <p:spPr>
          <a:xfrm>
            <a:off x="731520" y="3383280"/>
            <a:ext cx="3657600" cy="365700"/>
          </a:xfrm>
          <a:prstGeom prst="rect">
            <a:avLst/>
          </a:prstGeom>
          <a:solidFill>
            <a:srgbClr val="001A2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914400" y="3410712"/>
            <a:ext cx="3291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7700"/>
                </a:solidFill>
                <a:latin typeface="Consolas"/>
                <a:ea typeface="Consolas"/>
                <a:cs typeface="Consolas"/>
                <a:sym typeface="Consolas"/>
              </a:rPr>
              <a:t>LAYER 2 — AST ANALYZER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3657600" y="3410712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Python AST walker • Semantic analysis • Variable tracing</a:t>
            </a:r>
            <a:endParaRPr/>
          </a:p>
        </p:txBody>
      </p:sp>
      <p:sp>
        <p:nvSpPr>
          <p:cNvPr id="188" name="Google Shape;188;p17"/>
          <p:cNvSpPr txBox="1"/>
          <p:nvPr/>
        </p:nvSpPr>
        <p:spPr>
          <a:xfrm>
            <a:off x="731520" y="3840480"/>
            <a:ext cx="5029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eval(), exec(), compile() calls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os.system(), subprocess.Popen(shell=True)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pickle.loads(), yaml.load() deserialization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Input() in dangerous context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Variable-name based secret detection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(AWS_SECRET = '...', password = '...')</a:t>
            </a:r>
            <a:endParaRPr/>
          </a:p>
        </p:txBody>
      </p:sp>
      <p:sp>
        <p:nvSpPr>
          <p:cNvPr id="189" name="Google Shape;189;p17"/>
          <p:cNvSpPr txBox="1"/>
          <p:nvPr/>
        </p:nvSpPr>
        <p:spPr>
          <a:xfrm>
            <a:off x="5943600" y="3840480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Catches what regex misses. Understands code structure — detects obfuscated calls, multi-line patterns, and semantic relationships between variables and dangerous functions.</a:t>
            </a:r>
            <a:endParaRPr/>
          </a:p>
        </p:txBody>
      </p:sp>
      <p:sp>
        <p:nvSpPr>
          <p:cNvPr id="190" name="Google Shape;190;p17"/>
          <p:cNvSpPr/>
          <p:nvPr/>
        </p:nvSpPr>
        <p:spPr>
          <a:xfrm>
            <a:off x="731520" y="4937760"/>
            <a:ext cx="3657600" cy="365760"/>
          </a:xfrm>
          <a:prstGeom prst="rect">
            <a:avLst/>
          </a:prstGeom>
          <a:solidFill>
            <a:srgbClr val="001A2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914400" y="496519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C55E"/>
                </a:solidFill>
                <a:latin typeface="Consolas"/>
                <a:ea typeface="Consolas"/>
                <a:cs typeface="Consolas"/>
                <a:sym typeface="Consolas"/>
              </a:rPr>
              <a:t>LAYER 3 — FILE SCANNER</a:t>
            </a:r>
            <a:endParaRPr/>
          </a:p>
        </p:txBody>
      </p:sp>
      <p:sp>
        <p:nvSpPr>
          <p:cNvPr id="192" name="Google Shape;192;p17"/>
          <p:cNvSpPr txBox="1"/>
          <p:nvPr/>
        </p:nvSpPr>
        <p:spPr>
          <a:xfrm>
            <a:off x="3657600" y="4965192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Filename detection • .env parsing • Dependency flagging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731520" y="539496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Sensitive filenames: .env, id_rsa, credentials, secrets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Unquoted KEY=VALUE in .env files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(no quotes required — parses raw format)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• Dependency manifest detection</a:t>
            </a:r>
            <a:b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(requirements.txt, Pipfile.lock, package-lock.json)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5943600" y="5394960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Configuration exposure is one of the most common leaks. This layer catches secrets in .env files that other scanners miss because they expect quoted strings.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202" name="Google Shape;202;p18"/>
          <p:cNvSpPr txBox="1"/>
          <p:nvPr/>
        </p:nvSpPr>
        <p:spPr>
          <a:xfrm>
            <a:off x="2298940" y="457200"/>
            <a:ext cx="9144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Demo Results</a:t>
            </a:r>
            <a:endParaRPr/>
          </a:p>
        </p:txBody>
      </p:sp>
      <p:sp>
        <p:nvSpPr>
          <p:cNvPr id="203" name="Google Shape;203;p18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 files • 5 languages • 20 vulnerabilities found in seconds</a:t>
            </a:r>
            <a:endParaRPr/>
          </a:p>
        </p:txBody>
      </p:sp>
      <p:sp>
        <p:nvSpPr>
          <p:cNvPr id="204" name="Google Shape;204;p18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731520" y="1828800"/>
            <a:ext cx="20116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1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731520" y="19202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731520" y="24688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3017520" y="1828800"/>
            <a:ext cx="20116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3017520" y="19202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770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3017520" y="24688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5303520" y="1828800"/>
            <a:ext cx="20116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ACC1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5303520" y="19202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ACC15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5303520" y="24688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7589520" y="1828800"/>
            <a:ext cx="20116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7589520" y="19202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7589520" y="24688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endParaRPr/>
          </a:p>
        </p:txBody>
      </p:sp>
      <p:sp>
        <p:nvSpPr>
          <p:cNvPr id="217" name="Google Shape;217;p18"/>
          <p:cNvSpPr/>
          <p:nvPr/>
        </p:nvSpPr>
        <p:spPr>
          <a:xfrm>
            <a:off x="9875520" y="1828800"/>
            <a:ext cx="20116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 txBox="1"/>
          <p:nvPr/>
        </p:nvSpPr>
        <p:spPr>
          <a:xfrm>
            <a:off x="9875520" y="19202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9875520" y="24688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endParaRPr/>
          </a:p>
        </p:txBody>
      </p:sp>
      <p:graphicFrame>
        <p:nvGraphicFramePr>
          <p:cNvPr id="220" name="Google Shape;220;p18"/>
          <p:cNvGraphicFramePr/>
          <p:nvPr/>
        </p:nvGraphicFramePr>
        <p:xfrm>
          <a:off x="731520" y="32918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{81B7280A-0FFB-468B-BDF5-D69A8370CAAC}</a:tableStyleId>
              </a:tblPr>
              <a:tblGrid>
                <a:gridCol w="1371600"/>
                <a:gridCol w="1371600"/>
                <a:gridCol w="1828800"/>
                <a:gridCol w="61264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File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Language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Findings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Issue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.env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(2 critical)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Unquoted DATABASE_URL + GITHUB_TOKEN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app.py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Python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 (4 critical)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Hardcoded secret, cmd injection, deserialization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app.js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JavaScript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(1 critical)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cp.exec() injection, XSS, eval()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main.go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(1 critical)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Hardcoded API secret (sk-live-...)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App.java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Java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(1 critical)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Hardcoded DB password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main.rs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Rust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(1 high)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Path traversal via unsanitized path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requirements.txt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(info)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Dependency manifest — run pip-audit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9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.env File Detection</a:t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Specialized parsing for the most common leak source</a:t>
            </a:r>
            <a:endParaRPr/>
          </a:p>
        </p:txBody>
      </p:sp>
      <p:sp>
        <p:nvSpPr>
          <p:cNvPr id="230" name="Google Shape;230;p19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Unlike most scanners, SecureOps AI doesn't require quoted strings — it parses raw KEY=VALUE format:</a:t>
            </a:r>
            <a:endParaRPr/>
          </a:p>
        </p:txBody>
      </p:sp>
      <p:sp>
        <p:nvSpPr>
          <p:cNvPr id="232" name="Google Shape;232;p19"/>
          <p:cNvSpPr/>
          <p:nvPr/>
        </p:nvSpPr>
        <p:spPr>
          <a:xfrm>
            <a:off x="731520" y="2377440"/>
            <a:ext cx="502920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1E1E3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868675" y="2468874"/>
            <a:ext cx="4755000" cy="20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# Typical .env file — no quotes: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DATABASE_URL=postgres://admin:supersecret@10.0.0.1:5432/prod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GITHUB_TOKEN=ghp_abc123def456ghi789jkl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AWS_ACCESS_KEY=AKIAIOSFODNN7EXAMPLE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# Matched keys: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api_key, secret, password, token, access_key,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github_token, gitlab_token, slack_token, stripe_key,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twilio, sendgrid, jwt_secret, connection_string,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database_url</a:t>
            </a:r>
            <a:endParaRPr/>
          </a:p>
        </p:txBody>
      </p:sp>
      <p:sp>
        <p:nvSpPr>
          <p:cNvPr id="234" name="Google Shape;234;p19"/>
          <p:cNvSpPr/>
          <p:nvPr/>
        </p:nvSpPr>
        <p:spPr>
          <a:xfrm>
            <a:off x="6217920" y="2377440"/>
            <a:ext cx="52120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 txBox="1"/>
          <p:nvPr/>
        </p:nvSpPr>
        <p:spPr>
          <a:xfrm>
            <a:off x="6400800" y="2560320"/>
            <a:ext cx="48463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  Filename detection: .env, .env.local, .env.prod, .env.dev, .env.staging, .env.test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  Line-by-line KEY=VALUE parsing — no quoting required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  Value length check (&gt;= 8 chars) to reduce false positives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  Both = and : delimiter support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  Also catches quoted values via standard regex rules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Result: 3 findings on the .env file — 1 high (sensitive file detected) + 2 critical (unquoted secrets). Each finding includes CWE ID and remediation recommendation.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LLM + MCP in Action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actual interaction between the LLM and SecureOps</a:t>
            </a:r>
            <a:endParaRPr/>
          </a:p>
        </p:txBody>
      </p:sp>
      <p:sp>
        <p:nvSpPr>
          <p:cNvPr id="246" name="Google Shape;246;p20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731520" y="1828800"/>
            <a:ext cx="2560320" cy="14630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 txBox="1"/>
          <p:nvPr/>
        </p:nvSpPr>
        <p:spPr>
          <a:xfrm>
            <a:off x="731520" y="19202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Step 1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914400" y="2286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scan_directory_structure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914400" y="26517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Lists files (no content)</a:t>
            </a:r>
            <a:endParaRPr/>
          </a:p>
        </p:txBody>
      </p:sp>
      <p:sp>
        <p:nvSpPr>
          <p:cNvPr id="251" name="Google Shape;251;p20"/>
          <p:cNvSpPr/>
          <p:nvPr/>
        </p:nvSpPr>
        <p:spPr>
          <a:xfrm>
            <a:off x="3566160" y="1828800"/>
            <a:ext cx="2560320" cy="14630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 txBox="1"/>
          <p:nvPr/>
        </p:nvSpPr>
        <p:spPr>
          <a:xfrm>
            <a:off x="3566160" y="19202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2C55E"/>
                </a:solidFill>
                <a:latin typeface="Consolas"/>
                <a:ea typeface="Consolas"/>
                <a:cs typeface="Consolas"/>
                <a:sym typeface="Consolas"/>
              </a:rPr>
              <a:t>  Step 2</a:t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3749040" y="2286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run_local_security_audit</a:t>
            </a:r>
            <a:endParaRPr/>
          </a:p>
        </p:txBody>
      </p:sp>
      <p:sp>
        <p:nvSpPr>
          <p:cNvPr id="254" name="Google Shape;254;p20"/>
          <p:cNvSpPr txBox="1"/>
          <p:nvPr/>
        </p:nvSpPr>
        <p:spPr>
          <a:xfrm>
            <a:off x="3749040" y="26517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Returns JSON findings + summary</a:t>
            </a:r>
            <a:endParaRPr/>
          </a:p>
        </p:txBody>
      </p:sp>
      <p:sp>
        <p:nvSpPr>
          <p:cNvPr id="255" name="Google Shape;255;p20"/>
          <p:cNvSpPr/>
          <p:nvPr/>
        </p:nvSpPr>
        <p:spPr>
          <a:xfrm>
            <a:off x="6400800" y="1828800"/>
            <a:ext cx="2560320" cy="14630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6400800" y="19202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7700"/>
                </a:solidFill>
                <a:latin typeface="Consolas"/>
                <a:ea typeface="Consolas"/>
                <a:cs typeface="Consolas"/>
                <a:sym typeface="Consolas"/>
              </a:rPr>
              <a:t>  Step 3</a:t>
            </a:r>
            <a:endParaRPr/>
          </a:p>
        </p:txBody>
      </p:sp>
      <p:sp>
        <p:nvSpPr>
          <p:cNvPr id="257" name="Google Shape;257;p20"/>
          <p:cNvSpPr txBox="1"/>
          <p:nvPr/>
        </p:nvSpPr>
        <p:spPr>
          <a:xfrm>
            <a:off x="6583680" y="2286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read_file_securely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6583680" y="26517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Reads specific file (traversal protected)</a:t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9235440" y="1828800"/>
            <a:ext cx="2560320" cy="14630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1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0"/>
          <p:cNvSpPr txBox="1"/>
          <p:nvPr/>
        </p:nvSpPr>
        <p:spPr>
          <a:xfrm>
            <a:off x="9235440" y="19202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1A4A"/>
                </a:solidFill>
                <a:latin typeface="Consolas"/>
                <a:ea typeface="Consolas"/>
                <a:cs typeface="Consolas"/>
                <a:sym typeface="Consolas"/>
              </a:rPr>
              <a:t>  Step 4</a:t>
            </a:r>
            <a:endParaRPr/>
          </a:p>
        </p:txBody>
      </p:sp>
      <p:sp>
        <p:nvSpPr>
          <p:cNvPr id="261" name="Google Shape;261;p20"/>
          <p:cNvSpPr txBox="1"/>
          <p:nvPr/>
        </p:nvSpPr>
        <p:spPr>
          <a:xfrm>
            <a:off x="9418320" y="2286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LLM reasons</a:t>
            </a:r>
            <a:endParaRPr/>
          </a:p>
        </p:txBody>
      </p:sp>
      <p:sp>
        <p:nvSpPr>
          <p:cNvPr id="262" name="Google Shape;262;p20"/>
          <p:cNvSpPr txBox="1"/>
          <p:nvPr/>
        </p:nvSpPr>
        <p:spPr>
          <a:xfrm>
            <a:off x="9418320" y="26517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Analyzes findings, suggests fixes</a:t>
            </a:r>
            <a:endParaRPr/>
          </a:p>
        </p:txBody>
      </p:sp>
      <p:sp>
        <p:nvSpPr>
          <p:cNvPr id="263" name="Google Shape;263;p20"/>
          <p:cNvSpPr txBox="1"/>
          <p:nvPr/>
        </p:nvSpPr>
        <p:spPr>
          <a:xfrm>
            <a:off x="731520" y="36576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Real interaction transcript (from a live run):</a:t>
            </a:r>
            <a:endParaRPr/>
          </a:p>
        </p:txBody>
      </p:sp>
      <p:sp>
        <p:nvSpPr>
          <p:cNvPr id="264" name="Google Shape;264;p20"/>
          <p:cNvSpPr/>
          <p:nvPr/>
        </p:nvSpPr>
        <p:spPr>
          <a:xfrm>
            <a:off x="731520" y="4023360"/>
            <a:ext cx="10698480" cy="237744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1E1E3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868680" y="4114800"/>
            <a:ext cx="1042416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⚙ scan_directory_structure(target_dir="target_project")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← {"tree": "target_project/\n  .env\n  App.java\n  app.js\n  app.py\n  main.go\n  main.rs\n  requirements.txt"}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⚙ run_local_security_audit(target_dir="target_project")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← {"summary": {"critical": 9, "high": 10, "medium": 1, "info": 1}, "findings": [...]}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→ LLM analyzes findings and produces: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"app.py — Hardcoded AWS secret, os.system() command injection, eval() on user input,</a:t>
            </a:r>
            <a:b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   pickle/yaml.load() insecure deserialization. Recommendations: [fixes for each]"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Real-World Use Cases</a:t>
            </a:r>
            <a:endParaRPr/>
          </a:p>
        </p:txBody>
      </p:sp>
      <p:sp>
        <p:nvSpPr>
          <p:cNvPr id="274" name="Google Shape;274;p21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Beyond the hackathon — production-ready from day one</a:t>
            </a:r>
            <a:endParaRPr/>
          </a:p>
        </p:txBody>
      </p:sp>
      <p:sp>
        <p:nvSpPr>
          <p:cNvPr id="275" name="Google Shape;275;p21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731520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1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1"/>
          <p:cNvSpPr txBox="1"/>
          <p:nvPr/>
        </p:nvSpPr>
        <p:spPr>
          <a:xfrm>
            <a:off x="914400" y="1965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  ▸ Pre-Commit Security Gate</a:t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914400" y="2377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Run before every git commit. Catch secrets, tokens, and passwords before they hit the repository. Integrates with pre-commit hooks.</a:t>
            </a:r>
            <a:endParaRPr/>
          </a:p>
        </p:txBody>
      </p:sp>
      <p:sp>
        <p:nvSpPr>
          <p:cNvPr id="279" name="Google Shape;279;p21"/>
          <p:cNvSpPr/>
          <p:nvPr/>
        </p:nvSpPr>
        <p:spPr>
          <a:xfrm>
            <a:off x="4480559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1"/>
          <p:cNvSpPr txBox="1"/>
          <p:nvPr/>
        </p:nvSpPr>
        <p:spPr>
          <a:xfrm>
            <a:off x="4663439" y="1965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7700"/>
                </a:solidFill>
                <a:latin typeface="Calibri"/>
                <a:ea typeface="Calibri"/>
                <a:cs typeface="Calibri"/>
                <a:sym typeface="Calibri"/>
              </a:rPr>
              <a:t>  ▸ CI/CD Pipeline Integration</a:t>
            </a:r>
            <a:endParaRPr/>
          </a:p>
        </p:txBody>
      </p:sp>
      <p:sp>
        <p:nvSpPr>
          <p:cNvPr id="281" name="Google Shape;281;p21"/>
          <p:cNvSpPr txBox="1"/>
          <p:nvPr/>
        </p:nvSpPr>
        <p:spPr>
          <a:xfrm>
            <a:off x="4663439" y="2377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SARIF output feeds directly into GitHub Advanced Security and Azure DevOps. Automatically block PRs that introduce new vulnerabilities.</a:t>
            </a:r>
            <a:endParaRPr/>
          </a:p>
        </p:txBody>
      </p:sp>
      <p:sp>
        <p:nvSpPr>
          <p:cNvPr id="282" name="Google Shape;282;p21"/>
          <p:cNvSpPr/>
          <p:nvPr/>
        </p:nvSpPr>
        <p:spPr>
          <a:xfrm>
            <a:off x="8229600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 txBox="1"/>
          <p:nvPr/>
        </p:nvSpPr>
        <p:spPr>
          <a:xfrm>
            <a:off x="8412480" y="1965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  ▸ Third-Party Code Review</a:t>
            </a:r>
            <a:endParaRPr/>
          </a:p>
        </p:txBody>
      </p:sp>
      <p:sp>
        <p:nvSpPr>
          <p:cNvPr id="284" name="Google Shape;284;p21"/>
          <p:cNvSpPr txBox="1"/>
          <p:nvPr/>
        </p:nvSpPr>
        <p:spPr>
          <a:xfrm>
            <a:off x="8412480" y="2377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Audit vendor code before integration. No need to share your infrastructure — the scan runs entirely on your machine.</a:t>
            </a:r>
            <a:endParaRPr/>
          </a:p>
        </p:txBody>
      </p:sp>
      <p:sp>
        <p:nvSpPr>
          <p:cNvPr id="285" name="Google Shape;285;p21"/>
          <p:cNvSpPr/>
          <p:nvPr/>
        </p:nvSpPr>
        <p:spPr>
          <a:xfrm>
            <a:off x="731520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 txBox="1"/>
          <p:nvPr/>
        </p:nvSpPr>
        <p:spPr>
          <a:xfrm>
            <a:off x="914400" y="4251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  ▸ Developer Security Training</a:t>
            </a:r>
            <a:endParaRPr/>
          </a:p>
        </p:txBody>
      </p:sp>
      <p:sp>
        <p:nvSpPr>
          <p:cNvPr id="287" name="Google Shape;287;p21"/>
          <p:cNvSpPr txBox="1"/>
          <p:nvPr/>
        </p:nvSpPr>
        <p:spPr>
          <a:xfrm>
            <a:off x="914400" y="4663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LLM explains each finding in plain language, suggests fixes, and teaches secure coding patterns. Built-in education for the whole team.</a:t>
            </a:r>
            <a:endParaRPr/>
          </a:p>
        </p:txBody>
      </p:sp>
      <p:sp>
        <p:nvSpPr>
          <p:cNvPr id="288" name="Google Shape;288;p21"/>
          <p:cNvSpPr/>
          <p:nvPr/>
        </p:nvSpPr>
        <p:spPr>
          <a:xfrm>
            <a:off x="4480559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 txBox="1"/>
          <p:nvPr/>
        </p:nvSpPr>
        <p:spPr>
          <a:xfrm>
            <a:off x="4663439" y="4251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  ▸ Legacy Codebase Migration</a:t>
            </a:r>
            <a:endParaRPr/>
          </a:p>
        </p:txBody>
      </p:sp>
      <p:sp>
        <p:nvSpPr>
          <p:cNvPr id="290" name="Google Shape;290;p21"/>
          <p:cNvSpPr txBox="1"/>
          <p:nvPr/>
        </p:nvSpPr>
        <p:spPr>
          <a:xfrm>
            <a:off x="4663439" y="4663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Scan millions of lines of legacy code to prioritize remediation. The risk score (0-100) gives management a clear metric for tracking progress.</a:t>
            </a:r>
            <a:endParaRPr/>
          </a:p>
        </p:txBody>
      </p:sp>
      <p:sp>
        <p:nvSpPr>
          <p:cNvPr id="291" name="Google Shape;291;p21"/>
          <p:cNvSpPr/>
          <p:nvPr/>
        </p:nvSpPr>
        <p:spPr>
          <a:xfrm>
            <a:off x="8229600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 txBox="1"/>
          <p:nvPr/>
        </p:nvSpPr>
        <p:spPr>
          <a:xfrm>
            <a:off x="8412480" y="42519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  ▸ Compliance Auditing</a:t>
            </a:r>
            <a:endParaRPr/>
          </a:p>
        </p:txBody>
      </p:sp>
      <p:sp>
        <p:nvSpPr>
          <p:cNvPr id="293" name="Google Shape;293;p21"/>
          <p:cNvSpPr txBox="1"/>
          <p:nvPr/>
        </p:nvSpPr>
        <p:spPr>
          <a:xfrm>
            <a:off x="8412480" y="466344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Every finding includes CWE-ID mapping (CWE-312, CWE-78, CWE-89, etc.). Generate compliance reports showing vulnerability posture across your codebase.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2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300" name="Google Shape;300;p22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301" name="Google Shape;301;p22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Technical Complexity</a:t>
            </a:r>
            <a:endParaRPr/>
          </a:p>
        </p:txBody>
      </p:sp>
      <p:sp>
        <p:nvSpPr>
          <p:cNvPr id="302" name="Google Shape;302;p22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Built to scale. Built to last.</a:t>
            </a:r>
            <a:endParaRPr/>
          </a:p>
        </p:txBody>
      </p:sp>
      <p:sp>
        <p:nvSpPr>
          <p:cNvPr id="303" name="Google Shape;303;p22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731520" y="18288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1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05840" y="19659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2377440" y="21488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Security Rules</a:t>
            </a:r>
            <a:endParaRPr/>
          </a:p>
        </p:txBody>
      </p:sp>
      <p:sp>
        <p:nvSpPr>
          <p:cNvPr id="307" name="Google Shape;307;p22"/>
          <p:cNvSpPr/>
          <p:nvPr/>
        </p:nvSpPr>
        <p:spPr>
          <a:xfrm>
            <a:off x="4480559" y="18288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 txBox="1"/>
          <p:nvPr/>
        </p:nvSpPr>
        <p:spPr>
          <a:xfrm>
            <a:off x="4754879" y="19659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7700"/>
                </a:solidFill>
                <a:latin typeface="Calibri"/>
                <a:ea typeface="Calibri"/>
                <a:cs typeface="Calibri"/>
                <a:sym typeface="Calibri"/>
              </a:rPr>
              <a:t>39</a:t>
            </a:r>
            <a:endParaRPr/>
          </a:p>
        </p:txBody>
      </p:sp>
      <p:sp>
        <p:nvSpPr>
          <p:cNvPr id="309" name="Google Shape;309;p22"/>
          <p:cNvSpPr txBox="1"/>
          <p:nvPr/>
        </p:nvSpPr>
        <p:spPr>
          <a:xfrm>
            <a:off x="6126479" y="21488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Regex Patterns</a:t>
            </a:r>
            <a:endParaRPr/>
          </a:p>
        </p:txBody>
      </p:sp>
      <p:sp>
        <p:nvSpPr>
          <p:cNvPr id="310" name="Google Shape;310;p22"/>
          <p:cNvSpPr/>
          <p:nvPr/>
        </p:nvSpPr>
        <p:spPr>
          <a:xfrm>
            <a:off x="8229600" y="18288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 txBox="1"/>
          <p:nvPr/>
        </p:nvSpPr>
        <p:spPr>
          <a:xfrm>
            <a:off x="8503920" y="19659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20+</a:t>
            </a:r>
            <a:endParaRPr/>
          </a:p>
        </p:txBody>
      </p:sp>
      <p:sp>
        <p:nvSpPr>
          <p:cNvPr id="312" name="Google Shape;312;p22"/>
          <p:cNvSpPr txBox="1"/>
          <p:nvPr/>
        </p:nvSpPr>
        <p:spPr>
          <a:xfrm>
            <a:off x="9875520" y="21488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Languages</a:t>
            </a:r>
            <a:endParaRPr/>
          </a:p>
        </p:txBody>
      </p:sp>
      <p:sp>
        <p:nvSpPr>
          <p:cNvPr id="313" name="Google Shape;313;p22"/>
          <p:cNvSpPr/>
          <p:nvPr/>
        </p:nvSpPr>
        <p:spPr>
          <a:xfrm>
            <a:off x="731520" y="32004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 txBox="1"/>
          <p:nvPr/>
        </p:nvSpPr>
        <p:spPr>
          <a:xfrm>
            <a:off x="1005840" y="33375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315" name="Google Shape;315;p22"/>
          <p:cNvSpPr txBox="1"/>
          <p:nvPr/>
        </p:nvSpPr>
        <p:spPr>
          <a:xfrm>
            <a:off x="2377440" y="35204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Files in Demo</a:t>
            </a:r>
            <a:endParaRPr/>
          </a:p>
        </p:txBody>
      </p:sp>
      <p:sp>
        <p:nvSpPr>
          <p:cNvPr id="316" name="Google Shape;316;p22"/>
          <p:cNvSpPr/>
          <p:nvPr/>
        </p:nvSpPr>
        <p:spPr>
          <a:xfrm>
            <a:off x="4480559" y="32004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2"/>
          <p:cNvSpPr txBox="1"/>
          <p:nvPr/>
        </p:nvSpPr>
        <p:spPr>
          <a:xfrm>
            <a:off x="4754879" y="33375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8x</a:t>
            </a:r>
            <a:endParaRPr/>
          </a:p>
        </p:txBody>
      </p:sp>
      <p:sp>
        <p:nvSpPr>
          <p:cNvPr id="318" name="Google Shape;318;p22"/>
          <p:cNvSpPr txBox="1"/>
          <p:nvPr/>
        </p:nvSpPr>
        <p:spPr>
          <a:xfrm>
            <a:off x="6126479" y="35204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Parallel Workers</a:t>
            </a:r>
            <a:endParaRPr/>
          </a:p>
        </p:txBody>
      </p:sp>
      <p:sp>
        <p:nvSpPr>
          <p:cNvPr id="319" name="Google Shape;319;p22"/>
          <p:cNvSpPr/>
          <p:nvPr/>
        </p:nvSpPr>
        <p:spPr>
          <a:xfrm>
            <a:off x="8229600" y="3200400"/>
            <a:ext cx="3383280" cy="10972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2"/>
          <p:cNvSpPr txBox="1"/>
          <p:nvPr/>
        </p:nvSpPr>
        <p:spPr>
          <a:xfrm>
            <a:off x="8503920" y="3337560"/>
            <a:ext cx="1371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5MB</a:t>
            </a:r>
            <a:endParaRPr/>
          </a:p>
        </p:txBody>
      </p:sp>
      <p:sp>
        <p:nvSpPr>
          <p:cNvPr id="321" name="Google Shape;321;p22"/>
          <p:cNvSpPr txBox="1"/>
          <p:nvPr/>
        </p:nvSpPr>
        <p:spPr>
          <a:xfrm>
            <a:off x="9875520" y="35204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Max File Size</a:t>
            </a:r>
            <a:endParaRPr/>
          </a:p>
        </p:txBody>
      </p:sp>
      <p:sp>
        <p:nvSpPr>
          <p:cNvPr id="322" name="Google Shape;322;p22"/>
          <p:cNvSpPr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2"/>
          <p:cNvSpPr txBox="1"/>
          <p:nvPr/>
        </p:nvSpPr>
        <p:spPr>
          <a:xfrm>
            <a:off x="1097280" y="48463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PRODUCTION-GRADE FEATURES</a:t>
            </a:r>
            <a:endParaRPr/>
          </a:p>
        </p:txBody>
      </p:sp>
      <p:sp>
        <p:nvSpPr>
          <p:cNvPr id="324" name="Google Shape;324;p22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Docker support           SARIF v2.1.0 output         Path traversal protection</a:t>
            </a:r>
            <a:br>
              <a:rPr b="0" i="0" lang="en-US" sz="13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Configurable rules       YAML-based configuration    Multi-threaded scanning</a:t>
            </a:r>
            <a:br>
              <a:rPr b="0" i="0" lang="en-US" sz="13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D0D8E8"/>
                </a:solidFill>
                <a:latin typeface="Consolas"/>
                <a:ea typeface="Consolas"/>
                <a:cs typeface="Consolas"/>
                <a:sym typeface="Consolas"/>
              </a:rPr>
              <a:t>  .secureops-ignore        Interactive HTML dashboard  CWE-ID mapping on every finding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3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331" name="Google Shape;331;p23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332" name="Google Shape;332;p23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Integrations &amp; Output Formats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Works with the tools you already use</a:t>
            </a:r>
            <a:endParaRPr/>
          </a:p>
        </p:txBody>
      </p:sp>
      <p:sp>
        <p:nvSpPr>
          <p:cNvPr id="334" name="Google Shape;334;p23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3"/>
          <p:cNvSpPr/>
          <p:nvPr/>
        </p:nvSpPr>
        <p:spPr>
          <a:xfrm>
            <a:off x="731520" y="1828800"/>
            <a:ext cx="2560320" cy="27432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3"/>
          <p:cNvSpPr txBox="1"/>
          <p:nvPr/>
        </p:nvSpPr>
        <p:spPr>
          <a:xfrm>
            <a:off x="914400" y="1920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MCP Clients</a:t>
            </a:r>
            <a:endParaRPr/>
          </a:p>
        </p:txBody>
      </p:sp>
      <p:sp>
        <p:nvSpPr>
          <p:cNvPr id="337" name="Google Shape;337;p23"/>
          <p:cNvSpPr txBox="1"/>
          <p:nvPr/>
        </p:nvSpPr>
        <p:spPr>
          <a:xfrm>
            <a:off x="1005840" y="23774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Claude Desktop</a:t>
            </a:r>
            <a:endParaRPr/>
          </a:p>
        </p:txBody>
      </p:sp>
      <p:sp>
        <p:nvSpPr>
          <p:cNvPr id="338" name="Google Shape;338;p23"/>
          <p:cNvSpPr txBox="1"/>
          <p:nvPr/>
        </p:nvSpPr>
        <p:spPr>
          <a:xfrm>
            <a:off x="1005840" y="2834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VS Code (MCP extension)</a:t>
            </a:r>
            <a:endParaRPr/>
          </a:p>
        </p:txBody>
      </p:sp>
      <p:sp>
        <p:nvSpPr>
          <p:cNvPr id="339" name="Google Shape;339;p23"/>
          <p:cNvSpPr txBox="1"/>
          <p:nvPr/>
        </p:nvSpPr>
        <p:spPr>
          <a:xfrm>
            <a:off x="100584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Continue.dev</a:t>
            </a:r>
            <a:endParaRPr/>
          </a:p>
        </p:txBody>
      </p:sp>
      <p:sp>
        <p:nvSpPr>
          <p:cNvPr id="340" name="Google Shape;340;p23"/>
          <p:cNvSpPr txBox="1"/>
          <p:nvPr/>
        </p:nvSpPr>
        <p:spPr>
          <a:xfrm>
            <a:off x="1005840" y="3749039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Custom MCP SDK clients</a:t>
            </a:r>
            <a:endParaRPr/>
          </a:p>
        </p:txBody>
      </p:sp>
      <p:sp>
        <p:nvSpPr>
          <p:cNvPr id="341" name="Google Shape;341;p23"/>
          <p:cNvSpPr/>
          <p:nvPr/>
        </p:nvSpPr>
        <p:spPr>
          <a:xfrm>
            <a:off x="3566160" y="1828800"/>
            <a:ext cx="2560320" cy="27432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3"/>
          <p:cNvSpPr txBox="1"/>
          <p:nvPr/>
        </p:nvSpPr>
        <p:spPr>
          <a:xfrm>
            <a:off x="3749040" y="1920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SARIF Consumers</a:t>
            </a:r>
            <a:endParaRPr/>
          </a:p>
        </p:txBody>
      </p:sp>
      <p:sp>
        <p:nvSpPr>
          <p:cNvPr id="343" name="Google Shape;343;p23"/>
          <p:cNvSpPr txBox="1"/>
          <p:nvPr/>
        </p:nvSpPr>
        <p:spPr>
          <a:xfrm>
            <a:off x="3840480" y="23774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GitHub Advanced Security</a:t>
            </a:r>
            <a:endParaRPr/>
          </a:p>
        </p:txBody>
      </p:sp>
      <p:sp>
        <p:nvSpPr>
          <p:cNvPr id="344" name="Google Shape;344;p23"/>
          <p:cNvSpPr txBox="1"/>
          <p:nvPr/>
        </p:nvSpPr>
        <p:spPr>
          <a:xfrm>
            <a:off x="3840480" y="2834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VS Code SARIF Viewer</a:t>
            </a:r>
            <a:endParaRPr/>
          </a:p>
        </p:txBody>
      </p:sp>
      <p:sp>
        <p:nvSpPr>
          <p:cNvPr id="345" name="Google Shape;345;p23"/>
          <p:cNvSpPr txBox="1"/>
          <p:nvPr/>
        </p:nvSpPr>
        <p:spPr>
          <a:xfrm>
            <a:off x="384048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Azure DevOps</a:t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3840480" y="3749039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GitLab SAST</a:t>
            </a:r>
            <a:endParaRPr/>
          </a:p>
        </p:txBody>
      </p:sp>
      <p:sp>
        <p:nvSpPr>
          <p:cNvPr id="347" name="Google Shape;347;p23"/>
          <p:cNvSpPr/>
          <p:nvPr/>
        </p:nvSpPr>
        <p:spPr>
          <a:xfrm>
            <a:off x="6400800" y="1828800"/>
            <a:ext cx="2560320" cy="27432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6583680" y="1920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CI/CD Platforms</a:t>
            </a:r>
            <a:endParaRPr/>
          </a:p>
        </p:txBody>
      </p:sp>
      <p:sp>
        <p:nvSpPr>
          <p:cNvPr id="349" name="Google Shape;349;p23"/>
          <p:cNvSpPr txBox="1"/>
          <p:nvPr/>
        </p:nvSpPr>
        <p:spPr>
          <a:xfrm>
            <a:off x="6675120" y="23774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GitHub Actions</a:t>
            </a:r>
            <a:endParaRPr/>
          </a:p>
        </p:txBody>
      </p:sp>
      <p:sp>
        <p:nvSpPr>
          <p:cNvPr id="350" name="Google Shape;350;p23"/>
          <p:cNvSpPr txBox="1"/>
          <p:nvPr/>
        </p:nvSpPr>
        <p:spPr>
          <a:xfrm>
            <a:off x="6675120" y="2834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GitLab CI</a:t>
            </a:r>
            <a:endParaRPr/>
          </a:p>
        </p:txBody>
      </p:sp>
      <p:sp>
        <p:nvSpPr>
          <p:cNvPr id="351" name="Google Shape;351;p23"/>
          <p:cNvSpPr txBox="1"/>
          <p:nvPr/>
        </p:nvSpPr>
        <p:spPr>
          <a:xfrm>
            <a:off x="667512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Jenkins</a:t>
            </a:r>
            <a:endParaRPr/>
          </a:p>
        </p:txBody>
      </p:sp>
      <p:sp>
        <p:nvSpPr>
          <p:cNvPr id="352" name="Google Shape;352;p23"/>
          <p:cNvSpPr txBox="1"/>
          <p:nvPr/>
        </p:nvSpPr>
        <p:spPr>
          <a:xfrm>
            <a:off x="6675120" y="3749039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Azure Pipelines</a:t>
            </a:r>
            <a:endParaRPr/>
          </a:p>
        </p:txBody>
      </p:sp>
      <p:sp>
        <p:nvSpPr>
          <p:cNvPr id="353" name="Google Shape;353;p23"/>
          <p:cNvSpPr/>
          <p:nvPr/>
        </p:nvSpPr>
        <p:spPr>
          <a:xfrm>
            <a:off x="9235440" y="1828800"/>
            <a:ext cx="2560320" cy="27432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3"/>
          <p:cNvSpPr txBox="1"/>
          <p:nvPr/>
        </p:nvSpPr>
        <p:spPr>
          <a:xfrm>
            <a:off x="9418320" y="1920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Infrastructure</a:t>
            </a:r>
            <a:endParaRPr/>
          </a:p>
        </p:txBody>
      </p:sp>
      <p:sp>
        <p:nvSpPr>
          <p:cNvPr id="355" name="Google Shape;355;p23"/>
          <p:cNvSpPr txBox="1"/>
          <p:nvPr/>
        </p:nvSpPr>
        <p:spPr>
          <a:xfrm>
            <a:off x="9509760" y="23774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Docker</a:t>
            </a:r>
            <a:endParaRPr/>
          </a:p>
        </p:txBody>
      </p:sp>
      <p:sp>
        <p:nvSpPr>
          <p:cNvPr id="356" name="Google Shape;356;p23"/>
          <p:cNvSpPr txBox="1"/>
          <p:nvPr/>
        </p:nvSpPr>
        <p:spPr>
          <a:xfrm>
            <a:off x="9509760" y="2834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docker-compose</a:t>
            </a:r>
            <a:endParaRPr/>
          </a:p>
        </p:txBody>
      </p:sp>
      <p:sp>
        <p:nvSpPr>
          <p:cNvPr id="357" name="Google Shape;357;p23"/>
          <p:cNvSpPr txBox="1"/>
          <p:nvPr/>
        </p:nvSpPr>
        <p:spPr>
          <a:xfrm>
            <a:off x="950976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Python 3.13+</a:t>
            </a:r>
            <a:endParaRPr/>
          </a:p>
        </p:txBody>
      </p:sp>
      <p:sp>
        <p:nvSpPr>
          <p:cNvPr id="358" name="Google Shape;358;p23"/>
          <p:cNvSpPr txBox="1"/>
          <p:nvPr/>
        </p:nvSpPr>
        <p:spPr>
          <a:xfrm>
            <a:off x="9509760" y="3749039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  ▸ Windows / macOS / Linux</a:t>
            </a:r>
            <a:endParaRPr/>
          </a:p>
        </p:txBody>
      </p:sp>
      <p:sp>
        <p:nvSpPr>
          <p:cNvPr id="359" name="Google Shape;359;p23"/>
          <p:cNvSpPr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3"/>
          <p:cNvSpPr txBox="1"/>
          <p:nvPr/>
        </p:nvSpPr>
        <p:spPr>
          <a:xfrm>
            <a:off x="1097280" y="50292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0FF"/>
                </a:solidFill>
                <a:latin typeface="Consolas"/>
                <a:ea typeface="Consolas"/>
                <a:cs typeface="Consolas"/>
                <a:sym typeface="Consolas"/>
              </a:rPr>
              <a:t>INTERACTIVE HTML DASHBOARD</a:t>
            </a:r>
            <a:endParaRPr/>
          </a:p>
        </p:txBody>
      </p:sp>
      <p:sp>
        <p:nvSpPr>
          <p:cNvPr id="361" name="Google Shape;361;p23"/>
          <p:cNvSpPr txBox="1"/>
          <p:nvPr/>
        </p:nvSpPr>
        <p:spPr>
          <a:xfrm>
            <a:off x="1097280" y="539496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Open dashboard.html in any browser — no server required. Includes severity donut chart, risk score gauge (0-100), file-by-file findings breakdown, full searchable findings table, and one-click JSON/SARIF export. Self-contained, zero dependencies.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4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  |  LLM with MCP + Cybersecurity &amp; Privacy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228600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Future Roadmap</a:t>
            </a:r>
            <a:endParaRPr/>
          </a:p>
        </p:txBody>
      </p:sp>
      <p:sp>
        <p:nvSpPr>
          <p:cNvPr id="370" name="Google Shape;370;p24"/>
          <p:cNvSpPr txBox="1"/>
          <p:nvPr/>
        </p:nvSpPr>
        <p:spPr>
          <a:xfrm>
            <a:off x="2286000" y="10058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This is just the beginning</a:t>
            </a:r>
            <a:endParaRPr/>
          </a:p>
        </p:txBody>
      </p:sp>
      <p:sp>
        <p:nvSpPr>
          <p:cNvPr id="371" name="Google Shape;371;p24"/>
          <p:cNvSpPr/>
          <p:nvPr/>
        </p:nvSpPr>
        <p:spPr>
          <a:xfrm>
            <a:off x="2286000" y="1417320"/>
            <a:ext cx="137160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/>
          <p:nvPr/>
        </p:nvSpPr>
        <p:spPr>
          <a:xfrm>
            <a:off x="731520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1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4"/>
          <p:cNvSpPr txBox="1"/>
          <p:nvPr/>
        </p:nvSpPr>
        <p:spPr>
          <a:xfrm>
            <a:off x="91440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1A4A"/>
                </a:solidFill>
                <a:latin typeface="Calibri"/>
                <a:ea typeface="Calibri"/>
                <a:cs typeface="Calibri"/>
                <a:sym typeface="Calibri"/>
              </a:rPr>
              <a:t>Real-Time Watch Mode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3200400" y="1920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Q3 2026</a:t>
            </a:r>
            <a:endParaRPr/>
          </a:p>
        </p:txBody>
      </p:sp>
      <p:sp>
        <p:nvSpPr>
          <p:cNvPr id="375" name="Google Shape;375;p24"/>
          <p:cNvSpPr txBox="1"/>
          <p:nvPr/>
        </p:nvSpPr>
        <p:spPr>
          <a:xfrm>
            <a:off x="914400" y="2286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File system watcher that rescans on file change. Instant feedback during development.</a:t>
            </a:r>
            <a:endParaRPr/>
          </a:p>
        </p:txBody>
      </p:sp>
      <p:sp>
        <p:nvSpPr>
          <p:cNvPr id="376" name="Google Shape;376;p24"/>
          <p:cNvSpPr/>
          <p:nvPr/>
        </p:nvSpPr>
        <p:spPr>
          <a:xfrm>
            <a:off x="4480559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FF77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4"/>
          <p:cNvSpPr txBox="1"/>
          <p:nvPr/>
        </p:nvSpPr>
        <p:spPr>
          <a:xfrm>
            <a:off x="4663439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7700"/>
                </a:solidFill>
                <a:latin typeface="Calibri"/>
                <a:ea typeface="Calibri"/>
                <a:cs typeface="Calibri"/>
                <a:sym typeface="Calibri"/>
              </a:rPr>
              <a:t>Auto-Fix via LLM</a:t>
            </a:r>
            <a:endParaRPr/>
          </a:p>
        </p:txBody>
      </p:sp>
      <p:sp>
        <p:nvSpPr>
          <p:cNvPr id="378" name="Google Shape;378;p24"/>
          <p:cNvSpPr txBox="1"/>
          <p:nvPr/>
        </p:nvSpPr>
        <p:spPr>
          <a:xfrm>
            <a:off x="6949439" y="1920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Q3 2026</a:t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4663439" y="2286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LLM doesn't just find vulnerabilities — it generates and applies patches. One-click remediation.</a:t>
            </a:r>
            <a:endParaRPr/>
          </a:p>
        </p:txBody>
      </p:sp>
      <p:sp>
        <p:nvSpPr>
          <p:cNvPr id="380" name="Google Shape;380;p24"/>
          <p:cNvSpPr/>
          <p:nvPr/>
        </p:nvSpPr>
        <p:spPr>
          <a:xfrm>
            <a:off x="8229600" y="1828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4"/>
          <p:cNvSpPr txBox="1"/>
          <p:nvPr/>
        </p:nvSpPr>
        <p:spPr>
          <a:xfrm>
            <a:off x="841248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C55E"/>
                </a:solidFill>
                <a:latin typeface="Calibri"/>
                <a:ea typeface="Calibri"/>
                <a:cs typeface="Calibri"/>
                <a:sym typeface="Calibri"/>
              </a:rPr>
              <a:t>Semgrep Integration</a:t>
            </a:r>
            <a:endParaRPr/>
          </a:p>
        </p:txBody>
      </p:sp>
      <p:sp>
        <p:nvSpPr>
          <p:cNvPr id="382" name="Google Shape;382;p24"/>
          <p:cNvSpPr txBox="1"/>
          <p:nvPr/>
        </p:nvSpPr>
        <p:spPr>
          <a:xfrm>
            <a:off x="10698480" y="1920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Q4 2026</a:t>
            </a:r>
            <a:endParaRPr/>
          </a:p>
        </p:txBody>
      </p:sp>
      <p:sp>
        <p:nvSpPr>
          <p:cNvPr id="383" name="Google Shape;383;p24"/>
          <p:cNvSpPr txBox="1"/>
          <p:nvPr/>
        </p:nvSpPr>
        <p:spPr>
          <a:xfrm>
            <a:off x="8412480" y="2286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Deep SAST analysis via Semgrep rules engine. Hundreds of additional patterns.</a:t>
            </a:r>
            <a:endParaRPr/>
          </a:p>
        </p:txBody>
      </p:sp>
      <p:sp>
        <p:nvSpPr>
          <p:cNvPr id="384" name="Google Shape;384;p24"/>
          <p:cNvSpPr/>
          <p:nvPr/>
        </p:nvSpPr>
        <p:spPr>
          <a:xfrm>
            <a:off x="731520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4"/>
          <p:cNvSpPr txBox="1"/>
          <p:nvPr/>
        </p:nvSpPr>
        <p:spPr>
          <a:xfrm>
            <a:off x="914400" y="4206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Git History Scanning</a:t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3200400" y="4206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Q4 2026</a:t>
            </a:r>
            <a:endParaRPr/>
          </a:p>
        </p:txBody>
      </p:sp>
      <p:sp>
        <p:nvSpPr>
          <p:cNvPr id="387" name="Google Shape;387;p24"/>
          <p:cNvSpPr txBox="1"/>
          <p:nvPr/>
        </p:nvSpPr>
        <p:spPr>
          <a:xfrm>
            <a:off x="914400" y="4572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Scan git history for leaked secrets. Find credentials that were committed months ago.</a:t>
            </a:r>
            <a:endParaRPr/>
          </a:p>
        </p:txBody>
      </p:sp>
      <p:sp>
        <p:nvSpPr>
          <p:cNvPr id="388" name="Google Shape;388;p24"/>
          <p:cNvSpPr/>
          <p:nvPr/>
        </p:nvSpPr>
        <p:spPr>
          <a:xfrm>
            <a:off x="4480559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4"/>
          <p:cNvSpPr txBox="1"/>
          <p:nvPr/>
        </p:nvSpPr>
        <p:spPr>
          <a:xfrm>
            <a:off x="4663439" y="4206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VS Code Extension</a:t>
            </a:r>
            <a:endParaRPr/>
          </a:p>
        </p:txBody>
      </p:sp>
      <p:sp>
        <p:nvSpPr>
          <p:cNvPr id="390" name="Google Shape;390;p24"/>
          <p:cNvSpPr txBox="1"/>
          <p:nvPr/>
        </p:nvSpPr>
        <p:spPr>
          <a:xfrm>
            <a:off x="6949439" y="4206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Q1 2027</a:t>
            </a:r>
            <a:endParaRPr/>
          </a:p>
        </p:txBody>
      </p:sp>
      <p:sp>
        <p:nvSpPr>
          <p:cNvPr id="391" name="Google Shape;391;p24"/>
          <p:cNvSpPr txBox="1"/>
          <p:nvPr/>
        </p:nvSpPr>
        <p:spPr>
          <a:xfrm>
            <a:off x="4663439" y="4572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Inline code annotations. Real-time vulnerability highlighting as you type.</a:t>
            </a:r>
            <a:endParaRPr/>
          </a:p>
        </p:txBody>
      </p:sp>
      <p:sp>
        <p:nvSpPr>
          <p:cNvPr id="392" name="Google Shape;392;p24"/>
          <p:cNvSpPr/>
          <p:nvPr/>
        </p:nvSpPr>
        <p:spPr>
          <a:xfrm>
            <a:off x="8229600" y="4114800"/>
            <a:ext cx="338328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4"/>
          <p:cNvSpPr txBox="1"/>
          <p:nvPr/>
        </p:nvSpPr>
        <p:spPr>
          <a:xfrm>
            <a:off x="8412480" y="4206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Team Dashboard</a:t>
            </a:r>
            <a:endParaRPr/>
          </a:p>
        </p:txBody>
      </p:sp>
      <p:sp>
        <p:nvSpPr>
          <p:cNvPr id="394" name="Google Shape;394;p24"/>
          <p:cNvSpPr txBox="1"/>
          <p:nvPr/>
        </p:nvSpPr>
        <p:spPr>
          <a:xfrm>
            <a:off x="10698480" y="420624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Q1 2027</a:t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8412480" y="4572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Centralized vulnerability tracking across repositories. Trend analysis and SLA monitoring.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F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2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5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402" name="Google Shape;402;p25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Your code stays local. The LLM orchestrates. Vulnerabilities get caught.</a:t>
            </a:r>
            <a:endParaRPr/>
          </a:p>
        </p:txBody>
      </p:sp>
      <p:sp>
        <p:nvSpPr>
          <p:cNvPr id="403" name="Google Shape;403;p25"/>
          <p:cNvSpPr/>
          <p:nvPr/>
        </p:nvSpPr>
        <p:spPr>
          <a:xfrm>
            <a:off x="3200400" y="3657600"/>
            <a:ext cx="5760720" cy="2011680"/>
          </a:xfrm>
          <a:prstGeom prst="rect">
            <a:avLst/>
          </a:prstGeom>
          <a:solidFill>
            <a:srgbClr val="14141F"/>
          </a:solidFill>
          <a:ln cap="flat" cmpd="sng" w="12700">
            <a:solidFill>
              <a:srgbClr val="00F0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5"/>
          <p:cNvSpPr txBox="1"/>
          <p:nvPr/>
        </p:nvSpPr>
        <p:spPr>
          <a:xfrm>
            <a:off x="3474720" y="384048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SecureOps AI</a:t>
            </a:r>
            <a:endParaRPr/>
          </a:p>
        </p:txBody>
      </p:sp>
      <p:sp>
        <p:nvSpPr>
          <p:cNvPr id="405" name="Google Shape;405;p25"/>
          <p:cNvSpPr txBox="1"/>
          <p:nvPr/>
        </p:nvSpPr>
        <p:spPr>
          <a:xfrm>
            <a:off x="3474720" y="416052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Built for Global Tech Innovation 2026</a:t>
            </a:r>
            <a:endParaRPr/>
          </a:p>
        </p:txBody>
      </p:sp>
      <p:sp>
        <p:nvSpPr>
          <p:cNvPr id="406" name="Google Shape;406;p25"/>
          <p:cNvSpPr txBox="1"/>
          <p:nvPr/>
        </p:nvSpPr>
        <p:spPr>
          <a:xfrm>
            <a:off x="3474720" y="44805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LLM with MCP + Cybersecurity &amp; Privacy</a:t>
            </a:r>
            <a:endParaRPr/>
          </a:p>
        </p:txBody>
      </p:sp>
      <p:sp>
        <p:nvSpPr>
          <p:cNvPr id="407" name="Google Shape;407;p25"/>
          <p:cNvSpPr txBox="1"/>
          <p:nvPr/>
        </p:nvSpPr>
        <p:spPr>
          <a:xfrm>
            <a:off x="3474720" y="480060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00F0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5"/>
          <p:cNvSpPr txBox="1"/>
          <p:nvPr/>
        </p:nvSpPr>
        <p:spPr>
          <a:xfrm>
            <a:off x="3474720" y="51206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https://github.com/</a:t>
            </a:r>
            <a:r>
              <a:rPr lang="en-US" sz="1300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vlex127</a:t>
            </a:r>
            <a:r>
              <a:rPr b="0" i="0" lang="en-US" sz="1300" u="none" cap="none" strike="noStrike">
                <a:solidFill>
                  <a:srgbClr val="00F0FF"/>
                </a:solidFill>
                <a:latin typeface="Calibri"/>
                <a:ea typeface="Calibri"/>
                <a:cs typeface="Calibri"/>
                <a:sym typeface="Calibri"/>
              </a:rPr>
              <a:t>/secureops-mcp</a:t>
            </a:r>
            <a:endParaRPr/>
          </a:p>
        </p:txBody>
      </p:sp>
      <p:sp>
        <p:nvSpPr>
          <p:cNvPr id="409" name="Google Shape;409;p2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5"/>
          <p:cNvSpPr txBox="1"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SecureOps AI  |  Global Tech Innovation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